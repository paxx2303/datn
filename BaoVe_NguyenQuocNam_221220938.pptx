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60" r:id="rId6"/>
    <p:sldId id="262" r:id="rId7"/>
    <p:sldId id="263" r:id="rId8"/>
    <p:sldId id="280" r:id="rId10"/>
    <p:sldId id="264" r:id="rId11"/>
    <p:sldId id="265" r:id="rId12"/>
    <p:sldId id="267" r:id="rId13"/>
    <p:sldId id="268" r:id="rId14"/>
    <p:sldId id="269" r:id="rId15"/>
    <p:sldId id="270" r:id="rId16"/>
    <p:sldId id="274" r:id="rId17"/>
    <p:sldId id="275" r:id="rId18"/>
    <p:sldId id="277" r:id="rId19"/>
    <p:sldId id="278" r:id="rId20"/>
    <p:sldId id="279" r:id="rId21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29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13.jpeg"/><Relationship Id="rId26" Type="http://schemas.openxmlformats.org/officeDocument/2006/relationships/tags" Target="../tags/tag45.xml"/><Relationship Id="rId25" Type="http://schemas.openxmlformats.org/officeDocument/2006/relationships/tags" Target="../tags/tag44.xml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1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.jpeg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6032" y="960120"/>
            <a:ext cx="7772400" cy="5577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9940" y="296545"/>
            <a:ext cx="10058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 panose="020F0502020204030204"/>
              </a:rPr>
              <a:t>TRƯỜNG ĐẠI HỌC GIAO THÔNG VẬN TẢI</a:t>
            </a:r>
            <a:endParaRPr sz="2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960120"/>
            <a:ext cx="777240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749807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 i="0">
                <a:solidFill>
                  <a:srgbClr val="ED7D31"/>
                </a:solidFill>
                <a:latin typeface="Calibri" panose="020F0502020204030204"/>
              </a:rPr>
              <a:t>KHOA CÔNG NGHỆ THÔNG TIN  ·  ĐỒ ÁN TỐT NGHIỆP</a:t>
            </a:r>
            <a:endParaRPr sz="1900" b="1" i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690370"/>
            <a:ext cx="758952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800" b="1" i="0">
                <a:solidFill>
                  <a:srgbClr val="28176B"/>
                </a:solidFill>
                <a:latin typeface="Calibri Light" panose="020F0302020204030204"/>
              </a:rPr>
              <a:t>XÂY DỰNG HỆ THỐNG NHẬN DIỆN
VẬT THỂ QUA CAMERA MẮT CÁ</a:t>
            </a:r>
            <a:endParaRPr sz="3800" b="1" i="0">
              <a:solidFill>
                <a:srgbClr val="28176B"/>
              </a:solidFill>
              <a:latin typeface="Calibri Light" panose="020F03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3337560"/>
            <a:ext cx="64008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73152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Sinh viên thực hiện: Nguyễn Quốc Nam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  <a:p>
            <a:pPr algn="ctr">
              <a:lnSpc>
                <a:spcPct val="140000"/>
              </a:lnSpc>
            </a:pPr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Mã sinh viên: 221220938  ·  Lớp: CNTT1-K63  ·  Khóa 63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  <a:p>
            <a:pPr algn="ctr">
              <a:lnSpc>
                <a:spcPct val="140000"/>
              </a:lnSpc>
            </a:pPr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Ngành: Công nghệ Thông tin — Hệ chính quy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  <a:p>
            <a:pPr algn="ctr">
              <a:lnSpc>
                <a:spcPct val="140000"/>
              </a:lnSpc>
            </a:pPr>
          </a:p>
          <a:p>
            <a:pPr algn="ctr">
              <a:lnSpc>
                <a:spcPct val="140000"/>
              </a:lnSpc>
            </a:pPr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Giảng viên hướng dẫn: TS. Nguyễn Đức Dư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  <a:p>
            <a:pPr algn="ctr">
              <a:lnSpc>
                <a:spcPct val="140000"/>
              </a:lnSpc>
            </a:pPr>
          </a:p>
          <a:p>
            <a:pPr algn="ctr">
              <a:lnSpc>
                <a:spcPct val="140000"/>
              </a:lnSpc>
            </a:pPr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Hà Nội, 2026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43316" y="1019841"/>
            <a:ext cx="3785616" cy="2157412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mera_3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51845"/>
            <a:ext cx="3721608" cy="20934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320" y="3181826"/>
            <a:ext cx="372160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44546A"/>
                </a:solidFill>
                <a:latin typeface="Calibri" panose="020F0502020204030204"/>
              </a:rPr>
              <a:t>Camera thực tế — góc nhìn đường phố Việt Nam</a:t>
            </a:r>
            <a:endParaRPr sz="1100" b="0" i="1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43316" y="3260121"/>
            <a:ext cx="3785616" cy="2157412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mera_3_annotat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292125"/>
            <a:ext cx="3721608" cy="20934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75320" y="5422106"/>
            <a:ext cx="372160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44546A"/>
                </a:solidFill>
                <a:latin typeface="Calibri" panose="020F0502020204030204"/>
              </a:rPr>
              <a:t>YOLOv11 nhận diện: Car · Pedestrian · Motorbike</a:t>
            </a:r>
            <a:endParaRPr sz="1100" b="0" i="1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Đại học Giao thông Vận tải  ·  Hà Nội  ·  2026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33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Đặt Vấn Đề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2/17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" y="1185545"/>
            <a:ext cx="7583805" cy="1868805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206754"/>
            <a:ext cx="68580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Thực Trạng Giao Thông Việt Nam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7345" y="1610360"/>
            <a:ext cx="7492365" cy="12604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• 7,8 triệu ô tô &amp; 73 triệu xe máy đang lưu hành (Tổng cục Thống kê, 2024)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• Năm 2023: hơn 10.000 vụ tai nạn giao thông nghiêm trọng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• Camera CCTV truyền thống: giám sát thủ công — không phân tích tự động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032" y="3127248"/>
            <a:ext cx="7040880" cy="1874519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3200400"/>
            <a:ext cx="68580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ED7D31"/>
                </a:solidFill>
                <a:latin typeface="Calibri" panose="020F0502020204030204"/>
              </a:rPr>
              <a:t>Tại Sao Camera Fisheye?</a:t>
            </a:r>
            <a:endParaRPr sz="1700" b="1" i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" y="3611880"/>
            <a:ext cx="6858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8B4513"/>
                </a:solidFill>
                <a:latin typeface="Calibri" panose="020F0502020204030204"/>
              </a:rPr>
              <a:t>• Góc nhìn 180°–220° — một camera bao phủ toàn bộ ngã tư</a:t>
            </a:r>
            <a:endParaRPr sz="1900" b="1" i="0">
              <a:solidFill>
                <a:srgbClr val="8B4513"/>
              </a:solidFill>
              <a:latin typeface="Calibri" panose="020F0502020204030204"/>
            </a:endParaRPr>
          </a:p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• Tiết kiệm chi phí: thay thế 4 camera thường bằng 1 camera fisheye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• Nhưng gây barrel distortion → AI thông thường không áp dụng trực tiếp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79" y="6181344"/>
            <a:ext cx="44348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44546A"/>
                </a:solidFill>
                <a:latin typeface="Calibri" panose="020F0502020204030204"/>
              </a:rPr>
              <a:t>4-camera fisheye giám sát ngã tư — ban đêm</a:t>
            </a:r>
            <a:endParaRPr sz="1100" b="0" i="1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6032" y="5074920"/>
            <a:ext cx="2834640" cy="1481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5074920"/>
            <a:ext cx="283464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5148072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Bbox kém
phù hợp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5687568"/>
            <a:ext cx="2651760" cy="7498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 panose="020F0502020204030204"/>
              </a:rPr>
              <a:t>Đối tượng méo ở vùng biên</a:t>
            </a:r>
            <a:endParaRPr sz="1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55263" y="5074920"/>
            <a:ext cx="2834640" cy="1481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55263" y="5074920"/>
            <a:ext cx="283464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6703" y="5148072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10–30 px
nhỏ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46703" y="5687568"/>
            <a:ext cx="2651760" cy="7498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 panose="020F0502020204030204"/>
              </a:rPr>
              <a:t>Người đi bộ xa tâm ảnh</a:t>
            </a:r>
            <a:endParaRPr sz="1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54496" y="5074920"/>
            <a:ext cx="2834640" cy="1481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4496" y="5074920"/>
            <a:ext cx="283464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5148072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Phi tuyến
vị trí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45936" y="5687568"/>
            <a:ext cx="2651760" cy="7498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 panose="020F0502020204030204"/>
              </a:rPr>
              <a:t>Kích thước biến đổi theo vị trí</a:t>
            </a:r>
            <a:endParaRPr sz="1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253728" y="5074920"/>
            <a:ext cx="2834640" cy="1481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53728" y="5074920"/>
            <a:ext cx="283464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8" y="5148072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Dữ liệu
khan hiếm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45168" y="5687568"/>
            <a:ext cx="2651760" cy="7498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 panose="020F0502020204030204"/>
              </a:rPr>
              <a:t>Ảnh fisheye nhãn chất lượng cao</a:t>
            </a:r>
            <a:endParaRPr sz="1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290" y="1277620"/>
            <a:ext cx="4345305" cy="37979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140335"/>
            <a:ext cx="10515600" cy="645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Mục Tiêu &amp; Phạm Vi </a:t>
            </a:r>
            <a:r>
              <a:rPr lang="en-US" sz="3600" b="1" i="0">
                <a:solidFill>
                  <a:srgbClr val="FFFFFF"/>
                </a:solidFill>
                <a:latin typeface="Calibri Light" panose="020F0302020204030204"/>
              </a:rPr>
              <a:t>Đề Tài </a:t>
            </a:r>
            <a:endParaRPr lang="en-US"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3/17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207137" y="1518920"/>
            <a:ext cx="3749039" cy="2331720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16865" y="1610360"/>
            <a:ext cx="914400" cy="76835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4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304417" y="1656080"/>
            <a:ext cx="2560320" cy="82994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 panose="020F0502020204030204"/>
              </a:rPr>
              <a:t>Fine-tune YOLOv11-N</a:t>
            </a:r>
            <a:endParaRPr sz="2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005332" y="2588260"/>
            <a:ext cx="2560320" cy="9683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Trên bộ dữ liệu kết hợp
FishEye8K + VisDrone2019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>
            <p:custDataLst>
              <p:tags r:id="rId6"/>
            </p:custDataLst>
          </p:nvPr>
        </p:nvSpPr>
        <p:spPr>
          <a:xfrm>
            <a:off x="4184777" y="1518920"/>
            <a:ext cx="3749039" cy="2331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4294505" y="1610360"/>
            <a:ext cx="914400" cy="76835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4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5282057" y="1656080"/>
            <a:ext cx="2560320" cy="4603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 panose="020F0502020204030204"/>
              </a:rPr>
              <a:t>Tích hợp SAHI</a:t>
            </a:r>
            <a:endParaRPr sz="2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5282057" y="2296160"/>
            <a:ext cx="2560320" cy="12604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Nâng cao phát hiện đối tượng
nhỏ (người đi bộ xa tâm ảnh)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>
            <p:custDataLst>
              <p:tags r:id="rId10"/>
            </p:custDataLst>
          </p:nvPr>
        </p:nvSpPr>
        <p:spPr>
          <a:xfrm>
            <a:off x="8162416" y="1518920"/>
            <a:ext cx="3749039" cy="2331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8272144" y="1610360"/>
            <a:ext cx="914400" cy="76835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4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9259696" y="1656080"/>
            <a:ext cx="2560320" cy="4603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 panose="020F0502020204030204"/>
              </a:rPr>
              <a:t>Xây dựng Flask ITS</a:t>
            </a:r>
            <a:endParaRPr sz="2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9259696" y="2296160"/>
            <a:ext cx="2560320" cy="12604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Ứng dụng phân tích giao thông
với 5 module thông minh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6032" y="4004818"/>
            <a:ext cx="11612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Phạm vi: Phát hiện 5 lớp phương tiện giao thông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01752" y="4427855"/>
          <a:ext cx="11676888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6464808"/>
              </a:tblGrid>
              <a:tr h="3368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Lớp đối tượng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Tỷ lệ trong dataset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Đặc điểm / Thách thức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Car (Ô tô)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~45%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Phổ biến nhất, kích thước trung bình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Bus (Xe buýt)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~8%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Đối tượng lớn, dễ phát hiện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Truck (Xe tải)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~12%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Tỷ lệ dài/rộng bất thường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Pedestrian (Người đi bộ)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~20%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Thách thức nhất — nhỏ &amp; bị che khuất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Motorbike (Xe máy)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~15%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Phổ biến ở Việt Nam, nhỏ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Cơ Sở Lý Thuyết: Mô Hình Chiếu Fisheye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4/17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2925" y="1473835"/>
            <a:ext cx="6144895" cy="184531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175" y="1828165"/>
            <a:ext cx="5815330" cy="113728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Phương trình chiếu tổng quát:  r(θ) = f · g(θ) 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  — f: tiêu cự  ·  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θ: góc tới  ·  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g(θ): hàm đặc trưng từng mô hình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032" y="4334256"/>
            <a:ext cx="11676888" cy="438912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4379976"/>
            <a:ext cx="10972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Ảnh hưởng của Barrel Distortion lên bài toán nhận diện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6032" y="4709160"/>
            <a:ext cx="2807208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782312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① Hình dạng méo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7472" y="5212080"/>
            <a:ext cx="2624328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Bbox hình chữ nhật kém
phù hợp cho đối tượng
vùng biên ảnh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63824" y="4709160"/>
            <a:ext cx="2807208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4" y="4782312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② Feature map lệch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55264" y="5212080"/>
            <a:ext cx="2624328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CNN xử lý feature map
phân phối không đều
theo tâm/biên ảnh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71616" y="4709160"/>
            <a:ext cx="2807208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4782312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③ Kích thước phi tuyến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63056" y="5212080"/>
            <a:ext cx="2624328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Cùng đối tượng, khác
vị trí → kích thước
khác nhau đáng kể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979408" y="4709160"/>
            <a:ext cx="2807208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4782312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④ Domain gap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70848" y="5212080"/>
            <a:ext cx="2624328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Model train ảnh thẳng
không áp dụng trực
tiếp cho fisheye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amera1_A_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0" y="1236345"/>
            <a:ext cx="3415030" cy="29857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Kiến Trúc YOLOv11-N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5/17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914400"/>
            <a:ext cx="2807208" cy="896112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60120"/>
            <a:ext cx="2624328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Calibri" panose="020F0502020204030204"/>
              </a:rPr>
              <a:t>2.6M</a:t>
            </a:r>
            <a:endParaRPr sz="3600" b="1" i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7472" y="1481328"/>
            <a:ext cx="262432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0" i="0">
                <a:solidFill>
                  <a:srgbClr val="CCCCFF"/>
                </a:solidFill>
                <a:latin typeface="Calibri" panose="020F0502020204030204"/>
              </a:rPr>
              <a:t>Tham số</a:t>
            </a:r>
            <a:endParaRPr sz="1700" b="0" i="0">
              <a:solidFill>
                <a:srgbClr val="CCCCFF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63824" y="914400"/>
            <a:ext cx="2807208" cy="896112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5264" y="960120"/>
            <a:ext cx="2624328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Calibri" panose="020F0502020204030204"/>
              </a:rPr>
              <a:t>6.5</a:t>
            </a:r>
            <a:endParaRPr sz="3600" b="1" i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55264" y="1481328"/>
            <a:ext cx="262432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0" i="0">
                <a:solidFill>
                  <a:srgbClr val="CCCCFF"/>
                </a:solidFill>
                <a:latin typeface="Calibri" panose="020F0502020204030204"/>
              </a:rPr>
              <a:t>GFLOPs</a:t>
            </a:r>
            <a:endParaRPr sz="1700" b="0" i="0">
              <a:solidFill>
                <a:srgbClr val="CCCC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71616" y="914400"/>
            <a:ext cx="2807208" cy="896112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6" y="960120"/>
            <a:ext cx="2624328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Calibri" panose="020F0502020204030204"/>
              </a:rPr>
              <a:t>~5.3MB</a:t>
            </a:r>
            <a:endParaRPr sz="3600" b="1" i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63056" y="1481328"/>
            <a:ext cx="262432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0" i="0">
                <a:solidFill>
                  <a:srgbClr val="CCCCFF"/>
                </a:solidFill>
                <a:latin typeface="Calibri" panose="020F0502020204030204"/>
              </a:rPr>
              <a:t>Weights</a:t>
            </a:r>
            <a:endParaRPr sz="1700" b="0" i="0">
              <a:solidFill>
                <a:srgbClr val="CCCC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79408" y="914400"/>
            <a:ext cx="2807208" cy="896112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960120"/>
            <a:ext cx="2624328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Calibri" panose="020F0502020204030204"/>
              </a:rPr>
              <a:t>Nano</a:t>
            </a:r>
            <a:endParaRPr sz="3600" b="1" i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70848" y="1481328"/>
            <a:ext cx="262432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0" i="0">
                <a:solidFill>
                  <a:srgbClr val="CCCCFF"/>
                </a:solidFill>
                <a:latin typeface="Calibri" panose="020F0502020204030204"/>
              </a:rPr>
              <a:t>Phiên bản</a:t>
            </a:r>
            <a:endParaRPr sz="1700" b="0" i="0">
              <a:solidFill>
                <a:srgbClr val="CCCCFF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344805" y="1860804"/>
            <a:ext cx="9499340" cy="2395728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809" y="1892808"/>
            <a:ext cx="9435332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6032" y="4261104"/>
            <a:ext cx="1167688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44546A"/>
                </a:solidFill>
                <a:latin typeface="Calibri" panose="020F0502020204030204"/>
              </a:rPr>
              <a:t>Kiến trúc YOLOv11: Backbone (C3k2) → Neck (FPN+AIFI) → Detection Head (Anchor-free)</a:t>
            </a:r>
            <a:endParaRPr sz="1100" b="0" i="1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56032" y="4315968"/>
            <a:ext cx="3749039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4315968"/>
            <a:ext cx="3749039" cy="566928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4389120"/>
            <a:ext cx="3566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BACKBONE
C3k2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" y="4937760"/>
            <a:ext cx="35661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Kế thừa CSP: 2 nhánh (bottleneck + skip)
Giảm 3→2 block: ít params, gradient tốt hơn
Hội tụ ổn định khi fine-tune dataset nhỏ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33672" y="4315968"/>
            <a:ext cx="3749039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3672" y="4315968"/>
            <a:ext cx="3749039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5112" y="4322445"/>
            <a:ext cx="3566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NECK
FPN + AIFI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25112" y="4937760"/>
            <a:ext cx="35661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FPN: đặc trưng sâu → lớp nông (đối tượng nhỏ)
AIFI Transformer: self-attention intra-scale
Mô hình hóa quan hệ dài hạn trong feature map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11311" y="4315968"/>
            <a:ext cx="3749039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11311" y="4315968"/>
            <a:ext cx="3749039" cy="5669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710" y="4389120"/>
            <a:ext cx="3648075" cy="540385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HEAD</a:t>
            </a:r>
            <a:r>
              <a:rPr lang="en-US" sz="1700" b="1" i="0">
                <a:solidFill>
                  <a:srgbClr val="FFFFFF"/>
                </a:solidFill>
                <a:latin typeface="Calibri" panose="020F0502020204030204"/>
              </a:rPr>
              <a:t>  </a:t>
            </a:r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Anchor-free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02751" y="4937760"/>
            <a:ext cx="35661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Dự đoán l, r, t, b từ tâm grid cell
Không cần chọn anchor size/ratio
Tốt hơn với tỷ lệ bất thường (bus nằm ngang)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So sánh với YOLOv8-N: mAP@0.5:0.95 = 39.5% vs 37.3%  ·  Ít tham số hơn (2.6M vs 3.2M)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Kỹ Thuật SAHI — Sliced Aided Hyper Inference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6/17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914400"/>
            <a:ext cx="11676888" cy="53035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914400"/>
            <a:ext cx="64008" cy="5303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113385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C62828"/>
                </a:solidFill>
                <a:latin typeface="Calibri" panose="020F0502020204030204"/>
              </a:rPr>
              <a:t>Vấn đề: Người đi bộ xa tâm ảnh fisheye chỉ chiếm 10–30 pixel — model bỏ sót nhiều</a:t>
            </a:r>
            <a:endParaRPr sz="1700" b="1" i="0">
              <a:solidFill>
                <a:srgbClr val="C62828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7472" y="1600200"/>
            <a:ext cx="49377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Nguyên lý — Akyon et al., IEEE ICIP 2022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84375"/>
            <a:ext cx="6085205" cy="462026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50" y="1564640"/>
            <a:ext cx="4727575" cy="246189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250" y="4026535"/>
            <a:ext cx="4727575" cy="2602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Kỹ Thuật SAHI — Sliced Aided Hyper Inference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6/17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945" y="1180465"/>
            <a:ext cx="5209540" cy="376555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Nguyên lý — Akyon et al., IEEE ICIP 2022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28360" y="1557655"/>
            <a:ext cx="6260465" cy="4597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24470" y="1557655"/>
            <a:ext cx="2211705" cy="3524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B5E20"/>
                </a:solidFill>
                <a:latin typeface="Calibri" panose="020F0502020204030204"/>
              </a:rPr>
              <a:t>Kết Quả Thực Nghiệm</a:t>
            </a:r>
            <a:endParaRPr sz="1700" b="1" i="0">
              <a:solidFill>
                <a:srgbClr val="1B5E20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79055" y="1961515"/>
            <a:ext cx="2357120" cy="427355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Pedestrian Recall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44740" y="2232025"/>
            <a:ext cx="3227070" cy="675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800" b="1" i="0">
                <a:solidFill>
                  <a:srgbClr val="1B5E20"/>
                </a:solidFill>
                <a:latin typeface="Calibri" panose="020F0502020204030204"/>
              </a:rPr>
              <a:t>0.42  →  0.75</a:t>
            </a:r>
            <a:endParaRPr sz="3800" b="1" i="0">
              <a:solidFill>
                <a:srgbClr val="1B5E20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27725" y="2863215"/>
            <a:ext cx="6005195" cy="27070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Lợi ích trong bài toán fisheye: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• Mỗi lát ảnh có biến dạng cục bộ ít hơn → model dễ học hơn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• Đối tượng nhỏ ở biên xuất hiện tương đối lớn hơn trong lát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  <a:p>
            <a:pPr algn="l"/>
          </a:p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Đánh đổi tốc độ: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• Inference: 1.8–2.5 giây/ảnh (6–8× chậm hơn standard)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  <a:p>
            <a:pPr algn="l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• Phù hợp: phân tích offline, snapshot định kỳ 2–3s/lần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0" y="1691640"/>
            <a:ext cx="5561330" cy="4394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889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Bộ Dữ Liệu: FishEye8K + VisDrone2019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7/17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256032" y="914400"/>
            <a:ext cx="5532120" cy="2880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3"/>
            </p:custDataLst>
          </p:nvPr>
        </p:nvSpPr>
        <p:spPr>
          <a:xfrm>
            <a:off x="256032" y="914400"/>
            <a:ext cx="5532120" cy="438912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47472" y="960120"/>
            <a:ext cx="534924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FishEye8K — CVPRW 2023, AI City Challenge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47472" y="1417320"/>
            <a:ext cx="534924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1">
                <a:solidFill>
                  <a:srgbClr val="44546A"/>
                </a:solidFill>
                <a:latin typeface="Calibri" panose="020F0502020204030204"/>
              </a:rPr>
              <a:t>Camera giám sát Sở Cảnh sát Hsinchu, Đài Loan · Điều kiện đa dạng (ngày/đêm/mưa/sương)</a:t>
            </a:r>
            <a:endParaRPr sz="1700" b="0" i="1">
              <a:solidFill>
                <a:srgbClr val="44546A"/>
              </a:solidFill>
              <a:latin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938528"/>
          <a:ext cx="546811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645920"/>
                <a:gridCol w="1170432"/>
              </a:tblGrid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Split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Số ảnh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Số nhãn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TB/ảnh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Train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4.230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112.213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21,2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Val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1.058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—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—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Test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2.712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—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—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Tổng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8.000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112.213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—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5943600" y="914400"/>
            <a:ext cx="5989320" cy="28803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5943600" y="914400"/>
            <a:ext cx="5989320" cy="43891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053328" y="960120"/>
            <a:ext cx="580644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VisDrone2019 — ICCV 2019, Đại học Thiên Tân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6053328" y="1417320"/>
            <a:ext cx="580644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1">
                <a:solidFill>
                  <a:srgbClr val="44546A"/>
                </a:solidFill>
                <a:latin typeface="Calibri" panose="020F0502020204030204"/>
              </a:rPr>
              <a:t>Ảnh UAV, độ cao 10–70m, góc nghiêng + overhead · Ánh xạ 10 → 5 lớp</a:t>
            </a:r>
            <a:endParaRPr sz="1700" b="0" i="1">
              <a:solidFill>
                <a:srgbClr val="44546A"/>
              </a:solidFill>
              <a:latin typeface="Calibri" panose="020F0502020204030204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80176" y="1938528"/>
          <a:ext cx="5925311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84831"/>
              </a:tblGrid>
              <a:tr h="44577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Split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Số ảnh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Số nhãn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Train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6.471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343.205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Val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548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38.759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Test-Dev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1.610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75.102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28727" y="4352671"/>
            <a:ext cx="11676888" cy="411480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218" y="4287012"/>
            <a:ext cx="113385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Pipeline chuyển đổi VisDrone → Fisheye  (giảm 26% nhãn sau lọc bbox không hợp lệ)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4140" y="4713605"/>
            <a:ext cx="9690100" cy="19157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Cấu Hình Huấn Luyện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8/17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914400"/>
            <a:ext cx="11676888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78408"/>
            <a:ext cx="113385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0" i="0">
                <a:solidFill>
                  <a:srgbClr val="28176B"/>
                </a:solidFill>
                <a:latin typeface="Calibri" panose="020F0502020204030204"/>
              </a:rPr>
              <a:t>Môi trường: Kaggle Notebooks  ·  GPU Tesla P100-PCIE-16GB  ·  17.1 GB VRAM  ·  RAM 25 GB  ·  CUDA 12.1  ·  PyTorch 2.2</a:t>
            </a:r>
            <a:endParaRPr sz="1700" b="0" i="0">
              <a:solidFill>
                <a:srgbClr val="28176B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6032" y="1472184"/>
          <a:ext cx="75895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743200"/>
              </a:tblGrid>
              <a:tr h="38481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Siêu tham số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Cơ Bản (CB)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Nâng Cao (NC)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model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yolo11n.pt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yolo11n.pt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epochs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50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80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batch_size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16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16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img_size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640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960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optimizer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AdamW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SGD + Cosine LR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lr0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0.0005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0.01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freeze backbone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Không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Có — 10 lớp đầu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Dataset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FishEye8K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FishEye8K + VisDrone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SAHI inference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Không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Có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AMP (FP16)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True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True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mosaic / mixup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1.0 / 0.05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0.8 / 0.15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01000" y="1472184"/>
            <a:ext cx="3931920" cy="46177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545336"/>
            <a:ext cx="3749039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ED7D31"/>
                </a:solidFill>
                <a:latin typeface="Calibri" panose="020F0502020204030204"/>
              </a:rPr>
              <a:t>Cân bằng dữ liệu
(Class Imbalance)</a:t>
            </a:r>
            <a:endParaRPr sz="1700" b="1" i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19872" y="2194560"/>
            <a:ext cx="36576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286000"/>
            <a:ext cx="3474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Copy-Paste Aug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11312" y="2706624"/>
            <a:ext cx="34747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Ưu tiên lớp thiểu số
Bus, Truck khi augment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19872" y="3456432"/>
            <a:ext cx="36576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547872"/>
            <a:ext cx="3474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Class Weight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11312" y="3968496"/>
            <a:ext cx="34747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Tự động điều chỉnh
theo tần suất lớp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19872" y="4718304"/>
            <a:ext cx="36576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4809744"/>
            <a:ext cx="3474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Oversampling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11312" y="5230368"/>
            <a:ext cx="34747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Ưu tiên ảnh chứa
nhiều Bus / Truck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Thời gian huấn luyện:  CB ~3.8 giờ  ·  NC ~6.8 giờ (img_size=960, 80 epoch)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So Sánh 2 Phiên Bản &amp; Phân Tích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9/17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6032" y="914400"/>
          <a:ext cx="11676888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83080"/>
                <a:gridCol w="1965960"/>
                <a:gridCol w="1783080"/>
                <a:gridCol w="1783080"/>
                <a:gridCol w="1709928"/>
              </a:tblGrid>
              <a:tr h="4632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Phiên bản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mAP@0.5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mAP@0.5:0.95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Precision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Recall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FPS (GPU)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</a:tr>
              <a:tr h="46329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Cơ Bản (FishEye8K only)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0.619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0.363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0.650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0.570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~41 FPS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4632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8176B"/>
                          </a:solidFill>
                          <a:latin typeface="Calibri" panose="020F0502020204030204"/>
                        </a:rPr>
                        <a:t>Nâng Cao (+VisDrone
+SAHI+Freeze)</a:t>
                      </a:r>
                      <a:endParaRPr sz="1300" b="1" i="0">
                        <a:solidFill>
                          <a:srgbClr val="28176B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0.862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0.572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0.869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0.762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~12 (SAHI)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56032" y="2377440"/>
            <a:ext cx="2807208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2377440"/>
            <a:ext cx="2807208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2450592"/>
            <a:ext cx="2624328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800" b="1" i="0">
                <a:solidFill>
                  <a:srgbClr val="1B5E20"/>
                </a:solidFill>
                <a:latin typeface="Calibri" panose="020F0502020204030204"/>
              </a:rPr>
              <a:t>+39.3%</a:t>
            </a:r>
            <a:endParaRPr sz="3800" b="1" i="0">
              <a:solidFill>
                <a:srgbClr val="1B5E20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7472" y="3200400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mAP@0.5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" y="3547872"/>
            <a:ext cx="262432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0.619 → 0.862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63824" y="2377440"/>
            <a:ext cx="2807208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63824" y="2377440"/>
            <a:ext cx="2807208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2450592"/>
            <a:ext cx="2624328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800" b="1" i="0">
                <a:solidFill>
                  <a:srgbClr val="4472C4"/>
                </a:solidFill>
                <a:latin typeface="Calibri" panose="020F0502020204030204"/>
              </a:rPr>
              <a:t>+57.6%</a:t>
            </a:r>
            <a:endParaRPr sz="3800" b="1" i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55264" y="3200400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mAP@0.5:0.95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55264" y="3547872"/>
            <a:ext cx="262432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0" i="0">
                <a:solidFill>
                  <a:srgbClr val="44546A"/>
                </a:solidFill>
                <a:latin typeface="Calibri" panose="020F0502020204030204"/>
              </a:rPr>
              <a:t>0.363 → 0.572</a:t>
            </a:r>
            <a:endParaRPr sz="19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71616" y="2377440"/>
            <a:ext cx="2807208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71616" y="2377440"/>
            <a:ext cx="2807208" cy="54864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50592"/>
            <a:ext cx="2624328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800" b="1" i="0">
                <a:solidFill>
                  <a:srgbClr val="28176B"/>
                </a:solidFill>
                <a:latin typeface="Calibri" panose="020F0502020204030204"/>
              </a:rPr>
              <a:t>+33.7%</a:t>
            </a:r>
            <a:endParaRPr sz="38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63056" y="3200400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Precision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979408" y="2377440"/>
            <a:ext cx="2807208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9408" y="2377440"/>
            <a:ext cx="2807208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2450592"/>
            <a:ext cx="2624328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800" b="1" i="0">
                <a:solidFill>
                  <a:srgbClr val="ED7D31"/>
                </a:solidFill>
                <a:latin typeface="Calibri" panose="020F0502020204030204"/>
              </a:rPr>
              <a:t>+33.7%</a:t>
            </a:r>
            <a:endParaRPr sz="3800" b="1" i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70848" y="3200400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Recall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56032" y="3877056"/>
            <a:ext cx="11676888" cy="411480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913632"/>
            <a:ext cx="10972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Phân Tích Yếu Tố Cải Thiện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56032" y="4361688"/>
            <a:ext cx="2807208" cy="2377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434840"/>
            <a:ext cx="2624328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Freeze backbone
(freeze=10)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7472" y="5138928"/>
            <a:ext cx="2624328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 i="0">
                <a:solidFill>
                  <a:srgbClr val="44546A"/>
                </a:solidFill>
                <a:latin typeface="Calibri" panose="020F0502020204030204"/>
              </a:rPr>
              <a:t>Bảo toàn đặc trưng pretrained COCO,
tránh overfitting dataset nhỏ</a:t>
            </a:r>
            <a:endParaRPr sz="2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163824" y="4361688"/>
            <a:ext cx="2807208" cy="2377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55264" y="4434840"/>
            <a:ext cx="2624328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Dataset VisDrone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55264" y="5138928"/>
            <a:ext cx="2624328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 i="0">
                <a:solidFill>
                  <a:srgbClr val="44546A"/>
                </a:solidFill>
                <a:latin typeface="Calibri" panose="020F0502020204030204"/>
              </a:rPr>
              <a:t>Tăng 2× số mẫu → cải thiện
Bus, Truck, Pedestrian đáng kể</a:t>
            </a:r>
            <a:endParaRPr sz="2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71616" y="4361688"/>
            <a:ext cx="2807208" cy="2377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6" y="4434840"/>
            <a:ext cx="2624328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SAHI inference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63056" y="5138928"/>
            <a:ext cx="2624328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 i="0">
                <a:solidFill>
                  <a:srgbClr val="44546A"/>
                </a:solidFill>
                <a:latin typeface="Calibri" panose="020F0502020204030204"/>
              </a:rPr>
              <a:t>Pedestrian Recall 0.42 → 0.75
(+78.6% — cải thiện lớn nhất)</a:t>
            </a:r>
            <a:endParaRPr sz="2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979408" y="4361688"/>
            <a:ext cx="2807208" cy="2377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70848" y="4434840"/>
            <a:ext cx="2624328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Đánh đổi tốc độ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70848" y="5138928"/>
            <a:ext cx="2624328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 i="0">
                <a:solidFill>
                  <a:srgbClr val="44546A"/>
                </a:solidFill>
                <a:latin typeface="Calibri" panose="020F0502020204030204"/>
              </a:rPr>
              <a:t>41 FPS → 12 FPS (SAHI)
Chấp nhận được cho offline</a:t>
            </a:r>
            <a:endParaRPr sz="2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mAP Curves" descr="fig_map_cur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965" y="850265"/>
            <a:ext cx="5095240" cy="2799715"/>
          </a:xfrm>
          <a:prstGeom prst="rect">
            <a:avLst/>
          </a:prstGeom>
        </p:spPr>
      </p:pic>
      <p:pic>
        <p:nvPicPr>
          <p:cNvPr id="42" name="Improvement Diagram" descr="fig_wf_mapimpro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00" y="4750000"/>
            <a:ext cx="11400000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Kiến Trúc Hệ Thống Ứng Dụng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10/17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25312" y="2100580"/>
            <a:ext cx="4846320" cy="7498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templates/index.html + static/js/*  ·  router.js · appState.js · api.js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Kiến Trúc Xử Lý Video Bất Đồng Bộ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11/17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6032" y="1517904"/>
            <a:ext cx="1167688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B5E20"/>
                </a:solidFill>
                <a:latin typeface="Calibri" panose="020F0502020204030204"/>
              </a:rPr>
              <a:t>Giải pháp: Job Queue bất đồng bộ — ThreadPoolExecutor  (HTTP 202 Accepted pattern)</a:t>
            </a:r>
            <a:endParaRPr sz="1700" b="1" i="0">
              <a:solidFill>
                <a:srgbClr val="1B5E20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6032" y="1956815"/>
            <a:ext cx="1828800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029968"/>
            <a:ext cx="1700784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Client POST
/api/detect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2624328"/>
            <a:ext cx="17007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BFBFBF"/>
                </a:solidFill>
                <a:latin typeface="Calibri" panose="020F0502020204030204"/>
              </a:rPr>
              <a:t>Upload video</a:t>
            </a:r>
            <a:endParaRPr sz="1400" b="0" i="0">
              <a:solidFill>
                <a:srgbClr val="BFBFB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2263" y="2267712"/>
            <a:ext cx="2011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28176B"/>
                </a:solidFill>
                <a:latin typeface="Calibri" panose="020F0502020204030204"/>
              </a:rPr>
              <a:t>→</a:t>
            </a:r>
            <a:endParaRPr sz="24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40280" y="1956815"/>
            <a:ext cx="1828800" cy="960120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288" y="2029968"/>
            <a:ext cx="1700784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Validate +
Lưu file tạm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04288" y="2614803"/>
            <a:ext cx="17007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BFBFBF"/>
                </a:solidFill>
                <a:latin typeface="Calibri" panose="020F0502020204030204"/>
              </a:rPr>
              <a:t>Server side</a:t>
            </a:r>
            <a:endParaRPr sz="1400" b="0" i="0">
              <a:solidFill>
                <a:srgbClr val="BFBFB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96512" y="2267712"/>
            <a:ext cx="2011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28176B"/>
                </a:solidFill>
                <a:latin typeface="Calibri" panose="020F0502020204030204"/>
              </a:rPr>
              <a:t>→</a:t>
            </a:r>
            <a:endParaRPr sz="24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24528" y="1956815"/>
            <a:ext cx="1828800" cy="960120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2029968"/>
            <a:ext cx="1700784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Tạo job_id
(UUID v4)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88536" y="2614803"/>
            <a:ext cx="17007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BFBFBF"/>
                </a:solidFill>
                <a:latin typeface="Calibri" panose="020F0502020204030204"/>
              </a:rPr>
              <a:t>DB: pending</a:t>
            </a:r>
            <a:endParaRPr sz="1400" b="0" i="0">
              <a:solidFill>
                <a:srgbClr val="BFBFB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80760" y="2267712"/>
            <a:ext cx="2011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28176B"/>
                </a:solidFill>
                <a:latin typeface="Calibri" panose="020F0502020204030204"/>
              </a:rPr>
              <a:t>→</a:t>
            </a:r>
            <a:endParaRPr sz="24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08776" y="1956815"/>
            <a:ext cx="18288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2029968"/>
            <a:ext cx="1700784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HTTP 202
Accepted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72784" y="2624328"/>
            <a:ext cx="17007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BFBFBF"/>
                </a:solidFill>
                <a:latin typeface="Calibri" panose="020F0502020204030204"/>
              </a:rPr>
              <a:t>&lt; 200ms ✓</a:t>
            </a:r>
            <a:endParaRPr sz="1400" b="0" i="0">
              <a:solidFill>
                <a:srgbClr val="BFBFB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65008" y="2267712"/>
            <a:ext cx="2011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28176B"/>
                </a:solidFill>
                <a:latin typeface="Calibri" panose="020F0502020204030204"/>
              </a:rPr>
              <a:t>→</a:t>
            </a:r>
            <a:endParaRPr sz="24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193023" y="1956815"/>
            <a:ext cx="1828800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1" y="2029968"/>
            <a:ext cx="1700784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Client poll
GET /jobs/id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57031" y="2614803"/>
            <a:ext cx="17007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BFBFBF"/>
                </a:solidFill>
                <a:latin typeface="Calibri" panose="020F0502020204030204"/>
              </a:rPr>
              <a:t>Mỗi 2 giây</a:t>
            </a:r>
            <a:endParaRPr sz="1400" b="0" i="0">
              <a:solidFill>
                <a:srgbClr val="BFBFB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49255" y="2267712"/>
            <a:ext cx="2011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28176B"/>
                </a:solidFill>
                <a:latin typeface="Calibri" panose="020F0502020204030204"/>
              </a:rPr>
              <a:t>→</a:t>
            </a:r>
            <a:endParaRPr sz="24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177272" y="1956815"/>
            <a:ext cx="18288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2029968"/>
            <a:ext cx="1700784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Stream MP4
khi 'done'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232390" y="2624328"/>
            <a:ext cx="17007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BFBFBF"/>
                </a:solidFill>
                <a:latin typeface="Calibri" panose="020F0502020204030204"/>
              </a:rPr>
              <a:t>Streaming</a:t>
            </a:r>
            <a:endParaRPr sz="1400" b="0" i="0">
              <a:solidFill>
                <a:srgbClr val="BFBFBF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6032" y="3538855"/>
            <a:ext cx="11676888" cy="2487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3063240"/>
            <a:ext cx="64008" cy="2487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127248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Background Worker Thread — VideoJobQueue.submit()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3250" y="4133215"/>
            <a:ext cx="34015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① Đọc từng frame video (OpenCV)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297680" y="4133215"/>
            <a:ext cx="34015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② YOLO inference trên frame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56905" y="4133215"/>
            <a:ext cx="34015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③ Speed + Congestion overlay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7385" y="4743323"/>
            <a:ext cx="34015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④ Ghi annotation vào frame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297680" y="4743323"/>
            <a:ext cx="34015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⑤ Ghép annotated.mp4 + preview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321040" y="4743323"/>
            <a:ext cx="34015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⑥ Cập nhật DB: done / failed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56032" y="5641848"/>
            <a:ext cx="11676888" cy="53035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353" y="5550789"/>
            <a:ext cx="113385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0" i="0">
                <a:solidFill>
                  <a:srgbClr val="28176B"/>
                </a:solidFill>
                <a:latin typeface="Calibri" panose="020F0502020204030204"/>
              </a:rPr>
              <a:t>max_workers=2  ·  max_queue_size=10  ·  Job states: pending → running → done / failed  ·  Tránh quá tải VRAM</a:t>
            </a:r>
            <a:endParaRPr sz="1900" b="0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5 Module Phân Tích Giao Thông ITS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12/17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205232" y="1236980"/>
            <a:ext cx="6967728" cy="850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3"/>
            </p:custDataLst>
          </p:nvPr>
        </p:nvSpPr>
        <p:spPr>
          <a:xfrm>
            <a:off x="205232" y="1236980"/>
            <a:ext cx="822960" cy="850392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205232" y="1236980"/>
            <a:ext cx="822960" cy="645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3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119632" y="1300988"/>
            <a:ext cx="2743200" cy="3524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28176B"/>
                </a:solidFill>
                <a:latin typeface="Calibri" panose="020F0502020204030204"/>
              </a:rPr>
              <a:t>SpeedEstimator</a:t>
            </a:r>
            <a:endParaRPr sz="17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119632" y="1712468"/>
            <a:ext cx="5943600" cy="3067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 panose="020F0502020204030204"/>
              </a:rPr>
              <a:t>IoU tracking liên frame → pixel displacement → km/h · Cảnh báo vi phạm tốc độ</a:t>
            </a:r>
            <a:endParaRPr sz="1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>
            <p:custDataLst>
              <p:tags r:id="rId7"/>
            </p:custDataLst>
          </p:nvPr>
        </p:nvSpPr>
        <p:spPr>
          <a:xfrm>
            <a:off x="205232" y="2151380"/>
            <a:ext cx="6967728" cy="850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8"/>
            </p:custDataLst>
          </p:nvPr>
        </p:nvSpPr>
        <p:spPr>
          <a:xfrm>
            <a:off x="205232" y="2151380"/>
            <a:ext cx="822960" cy="8503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205232" y="2151380"/>
            <a:ext cx="822960" cy="645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3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1119632" y="2215388"/>
            <a:ext cx="2743200" cy="3524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4472C4"/>
                </a:solidFill>
                <a:latin typeface="Calibri" panose="020F0502020204030204"/>
              </a:rPr>
              <a:t>CongestionDetector</a:t>
            </a:r>
            <a:endParaRPr sz="1700" b="1" i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1119632" y="2626868"/>
            <a:ext cx="5943600" cy="3067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 panose="020F0502020204030204"/>
              </a:rPr>
              <a:t>ROI mật độ → 4 mức Level of Service · Visualize overlay màu theo mức độ</a:t>
            </a:r>
            <a:endParaRPr sz="1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>
            <p:custDataLst>
              <p:tags r:id="rId12"/>
            </p:custDataLst>
          </p:nvPr>
        </p:nvSpPr>
        <p:spPr>
          <a:xfrm>
            <a:off x="205232" y="3065780"/>
            <a:ext cx="6967728" cy="850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3"/>
            </p:custDataLst>
          </p:nvPr>
        </p:nvSpPr>
        <p:spPr>
          <a:xfrm>
            <a:off x="205232" y="3065780"/>
            <a:ext cx="822960" cy="8503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4"/>
            </p:custDataLst>
          </p:nvPr>
        </p:nvSpPr>
        <p:spPr>
          <a:xfrm>
            <a:off x="205232" y="3065780"/>
            <a:ext cx="822960" cy="645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3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1119632" y="3129788"/>
            <a:ext cx="2743200" cy="3524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C62828"/>
                </a:solidFill>
                <a:latin typeface="Calibri" panose="020F0502020204030204"/>
              </a:rPr>
              <a:t>IncidentDetector</a:t>
            </a:r>
            <a:endParaRPr sz="1700" b="1" i="0">
              <a:solidFill>
                <a:srgbClr val="C6282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1119632" y="3541268"/>
            <a:ext cx="5943600" cy="3067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 panose="020F0502020204030204"/>
              </a:rPr>
              <a:t>3 loại sự cố: đỗ sai · dừng đột ngột · ngược chiều · Alert webhook async</a:t>
            </a:r>
            <a:endParaRPr sz="1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>
            <p:custDataLst>
              <p:tags r:id="rId17"/>
            </p:custDataLst>
          </p:nvPr>
        </p:nvSpPr>
        <p:spPr>
          <a:xfrm>
            <a:off x="205232" y="3980180"/>
            <a:ext cx="6967728" cy="850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8"/>
            </p:custDataLst>
          </p:nvPr>
        </p:nvSpPr>
        <p:spPr>
          <a:xfrm>
            <a:off x="205232" y="3980180"/>
            <a:ext cx="822960" cy="8503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9"/>
            </p:custDataLst>
          </p:nvPr>
        </p:nvSpPr>
        <p:spPr>
          <a:xfrm>
            <a:off x="205232" y="3980180"/>
            <a:ext cx="822960" cy="645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 panose="020F0502020204030204"/>
              </a:rPr>
              <a:t>04</a:t>
            </a:r>
            <a:endParaRPr sz="3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>
            <p:custDataLst>
              <p:tags r:id="rId20"/>
            </p:custDataLst>
          </p:nvPr>
        </p:nvSpPr>
        <p:spPr>
          <a:xfrm>
            <a:off x="1119632" y="4044188"/>
            <a:ext cx="2743200" cy="3524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ED7D31"/>
                </a:solidFill>
                <a:latin typeface="Calibri" panose="020F0502020204030204"/>
              </a:rPr>
              <a:t>LineCounter</a:t>
            </a:r>
            <a:endParaRPr sz="1700" b="1" i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>
            <p:custDataLst>
              <p:tags r:id="rId21"/>
            </p:custDataLst>
          </p:nvPr>
        </p:nvSpPr>
        <p:spPr>
          <a:xfrm>
            <a:off x="1119632" y="4455668"/>
            <a:ext cx="5943600" cy="3067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 panose="020F0502020204030204"/>
              </a:rPr>
              <a:t>4 vạch ảo N/S/E/W · Cross-product xác định hướng · Đếm xe theo giờ</a:t>
            </a:r>
            <a:endParaRPr sz="1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>
            <p:custDataLst>
              <p:tags r:id="rId22"/>
            </p:custDataLst>
          </p:nvPr>
        </p:nvSpPr>
        <p:spPr>
          <a:xfrm>
            <a:off x="205232" y="4894580"/>
            <a:ext cx="6967728" cy="850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23"/>
            </p:custDataLst>
          </p:nvPr>
        </p:nvSpPr>
        <p:spPr>
          <a:xfrm>
            <a:off x="205232" y="4894580"/>
            <a:ext cx="822960" cy="8503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4"/>
            </p:custDataLst>
          </p:nvPr>
        </p:nvSpPr>
        <p:spPr>
          <a:xfrm>
            <a:off x="205232" y="4894580"/>
            <a:ext cx="822960" cy="645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 panose="020F0502020204030204"/>
              </a:rPr>
              <a:t>05</a:t>
            </a:r>
            <a:endParaRPr sz="3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>
            <p:custDataLst>
              <p:tags r:id="rId25"/>
            </p:custDataLst>
          </p:nvPr>
        </p:nvSpPr>
        <p:spPr>
          <a:xfrm>
            <a:off x="1119632" y="4958588"/>
            <a:ext cx="2743200" cy="3524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B5E20"/>
                </a:solidFill>
                <a:latin typeface="Calibri" panose="020F0502020204030204"/>
              </a:rPr>
              <a:t>ALPR</a:t>
            </a:r>
            <a:endParaRPr sz="1700" b="1" i="0">
              <a:solidFill>
                <a:srgbClr val="1B5E20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>
            <p:custDataLst>
              <p:tags r:id="rId26"/>
            </p:custDataLst>
          </p:nvPr>
        </p:nvSpPr>
        <p:spPr>
          <a:xfrm>
            <a:off x="1119632" y="5370068"/>
            <a:ext cx="5943600" cy="3067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 panose="020F0502020204030204"/>
              </a:rPr>
              <a:t>YOLO crop → EasyOCR → Regex chuẩn biển VN → Lưu DB + tra cứu lịch sử</a:t>
            </a:r>
            <a:endParaRPr sz="14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56348" y="1807923"/>
            <a:ext cx="4800600" cy="2803241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overview_annotated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88352" y="2307922"/>
            <a:ext cx="4736592" cy="273923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56602" y="5234226"/>
            <a:ext cx="473659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44546A"/>
                </a:solidFill>
                <a:latin typeface="Calibri" panose="020F0502020204030204"/>
              </a:rPr>
              <a:t>Live detection — 4 camera, real-time</a:t>
            </a:r>
            <a:endParaRPr sz="1100" b="0" i="1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Giao Diện Web — 6 Phân Hệ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13/17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6032" y="914400"/>
            <a:ext cx="1167688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0" i="1">
                <a:solidFill>
                  <a:srgbClr val="44546A"/>
                </a:solidFill>
                <a:latin typeface="Calibri" panose="020F0502020204030204"/>
              </a:rPr>
              <a:t>Kiến trúc Frontend: Vanilla JavaScript SPA — HTML5 · Bootstrap 5 · ES6 Modules</a:t>
            </a:r>
            <a:endParaRPr sz="1900" b="0" i="1">
              <a:solidFill>
                <a:srgbClr val="44546A"/>
              </a:solidFill>
              <a:latin typeface="Calibri" panose="020F050202020403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6032" y="1325880"/>
          <a:ext cx="7543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83480"/>
              </a:tblGrid>
              <a:tr h="522514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Phân hệ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Chức năng chi tiết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8176B"/>
                          </a:solidFill>
                          <a:latin typeface="Calibri" panose="020F0502020204030204"/>
                        </a:rPr>
                        <a:t>Dashboard</a:t>
                      </a:r>
                      <a:endParaRPr sz="1300" b="1" i="0">
                        <a:solidFill>
                          <a:srgbClr val="28176B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KPIs real-time: tổng lượt chạy, số đối tượng, biểu đồ phân phối, system logs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8176B"/>
                          </a:solidFill>
                          <a:latin typeface="Calibri" panose="020F0502020204030204"/>
                        </a:rPr>
                        <a:t>Workspace (Inference)</a:t>
                      </a:r>
                      <a:endParaRPr sz="1300" b="1" i="0">
                        <a:solidFill>
                          <a:srgbClr val="28176B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Kéo-thả ảnh/video · Đồng bộ (ảnh &lt;500ms) · Bất đồng bộ job queue (video)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8176B"/>
                          </a:solidFill>
                          <a:latin typeface="Calibri" panose="020F0502020204030204"/>
                        </a:rPr>
                        <a:t>Live Streams</a:t>
                      </a:r>
                      <a:endParaRPr sz="1300" b="1" i="0">
                        <a:solidFill>
                          <a:srgbClr val="28176B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MJPEG stream · Song song: camera gốc + detection overlay + tốc độ + ùn tắc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8176B"/>
                          </a:solidFill>
                          <a:latin typeface="Calibri" panose="020F0502020204030204"/>
                        </a:rPr>
                        <a:t>Run History</a:t>
                      </a:r>
                      <a:endParaRPr sz="1300" b="1" i="0">
                        <a:solidFill>
                          <a:srgbClr val="28176B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Lịch sử phiên nhận diện · Tải ảnh/video annotated + metadata JSON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8176B"/>
                          </a:solidFill>
                          <a:latin typeface="Calibri" panose="020F0502020204030204"/>
                        </a:rPr>
                        <a:t>System Logs</a:t>
                      </a:r>
                      <a:endParaRPr sz="1300" b="1" i="0">
                        <a:solidFill>
                          <a:srgbClr val="28176B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Terminal view · Server-Sent Events (SSE) · Tìm kiếm, lọc theo log level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8176B"/>
                          </a:solidFill>
                          <a:latin typeface="Calibri" panose="020F0502020204030204"/>
                        </a:rPr>
                        <a:t>TOC / ALPR</a:t>
                      </a:r>
                      <a:endParaRPr sz="1300" b="1" i="0">
                        <a:solidFill>
                          <a:srgbClr val="28176B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Trung tâm điều hành · Nhận dạng &amp; tra cứu biển số · Heatmap · Export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50123" y="1849181"/>
            <a:ext cx="4389120" cy="2565277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verview_annot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1881185"/>
            <a:ext cx="4325112" cy="25012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82127" y="4419030"/>
            <a:ext cx="432511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44546A"/>
                </a:solidFill>
                <a:latin typeface="Calibri" panose="020F0502020204030204"/>
              </a:rPr>
              <a:t>Live stream — 4 camera đồng thời</a:t>
            </a:r>
            <a:endParaRPr sz="1100" b="0" i="1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6032" y="5074920"/>
            <a:ext cx="2807208" cy="1143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5074920"/>
            <a:ext cx="2807208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5148072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Responsive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" y="5577840"/>
            <a:ext cx="2624328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Desktop 1920×1080
+ Tablet 1024×768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163824" y="5074920"/>
            <a:ext cx="2807208" cy="1143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63824" y="5074920"/>
            <a:ext cx="2807208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5264" y="5148072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Progressive
Disclosure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55264" y="5577840"/>
            <a:ext cx="2624328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Chi tiết kỹ thuật
ẩn mặc định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71616" y="5074920"/>
            <a:ext cx="2807208" cy="1143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71616" y="5074920"/>
            <a:ext cx="2807208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5148072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Error UX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63056" y="5577840"/>
            <a:ext cx="2624328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"File quá lớn.
Vui lòng chọn &lt; 500MB"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979408" y="5074920"/>
            <a:ext cx="2807208" cy="1143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9408" y="5074920"/>
            <a:ext cx="2807208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5148072"/>
            <a:ext cx="262432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28176B"/>
                </a:solidFill>
                <a:latin typeface="Calibri" panose="020F0502020204030204"/>
              </a:rPr>
              <a:t>Feedback</a:t>
            </a:r>
            <a:endParaRPr sz="1900" b="1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70848" y="5577840"/>
            <a:ext cx="2624328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Loading spinner
Toast notification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Dashboard UI" descr="fig_dashboard_u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950000"/>
            <a:ext cx="550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Kết Quả Kiểm Thử Chức Năng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14/17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6032" y="914400"/>
          <a:ext cx="11676887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5852160"/>
                <a:gridCol w="2743200"/>
                <a:gridCol w="1911095"/>
              </a:tblGrid>
              <a:tr h="48463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ID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Kịch bản kiểm thử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Kết quả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Thời gian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TC-01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Upload ảnh JPEG 1920×1080, phát hiện đối tượng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✅ PASS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480ms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TC-02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Upload ảnh &gt; 50MB (vượt giới hạn kích thước)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✅ PASS (Error 413)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50ms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TC-03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Upload video 30s 1080p, xử lý bất đồng bộ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✅ PASS (Job async)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Tạo: 200ms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TC-04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Polling job status khi đang xử lý (running)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✅ PASS (status + %)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45ms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TC-05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Download video kết quả đã annotate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✅ PASS (Stream MP4)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Streaming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TC-06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SAHI inference trên ảnh đông người đi bộ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✅ PASS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2.1s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TC-07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API /api/health check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✅ PASS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12ms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TC-08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Gửi webhook khi mật độ SEVERE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✅ PASS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~100ms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TC-09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Concurrent 3 video jobs đồng thời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5E20"/>
                          </a:solidFill>
                          <a:latin typeface="Calibri" panose="020F0502020204030204"/>
                        </a:rPr>
                        <a:t>✅ PASS (Queue thứ tự)</a:t>
                      </a:r>
                      <a:endParaRPr sz="1300" b="1" i="0">
                        <a:solidFill>
                          <a:srgbClr val="1B5E20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—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56032" y="5852160"/>
            <a:ext cx="11676888" cy="62179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5852160"/>
            <a:ext cx="64008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989320"/>
            <a:ext cx="11338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Calibri" panose="020F0502020204030204"/>
              </a:rPr>
              <a:t>Tổng kết:  9/9 Functional Tests PASS   ·   Unit Tests (pytest): 31/31 PASS</a:t>
            </a:r>
            <a:endParaRPr sz="2000" b="1" i="0">
              <a:solidFill>
                <a:srgbClr val="1B5E20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Kết Quả Đạt Được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15/17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914400"/>
            <a:ext cx="5532120" cy="5349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914400"/>
            <a:ext cx="5532120" cy="475488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78408"/>
            <a:ext cx="5349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Phần 1 — Nghiên Cứu Mô Hình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472" y="1481328"/>
            <a:ext cx="5349240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Pipeline VisDrone → fisheye với 32-point bbox transform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Dataset kết hợp: 11.296 ảnh train · 406.355 nhãn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YOLOv11-N Cơ bản:   mAP@0.5 = 0.619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YOLOv11-N Nâng cao: mAP@0.5 = 0.862  (+39.3%)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SAHI: Pedestrian Recall 0.42 → 0.75  (+78.6%)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Chỉ 2.6M tham số — phù hợp edge deployment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0" y="914400"/>
            <a:ext cx="5989320" cy="272491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914400"/>
            <a:ext cx="5989320" cy="4754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978408"/>
            <a:ext cx="5806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Phần 2 — Ứng Dụng Giám Sát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53328" y="1481328"/>
            <a:ext cx="58064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Flask Application Factory + Blueprint modular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Xử lý video bất đồng bộ — không timeout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5 module ITS: Speed · Congestion · Incident · LineCounter · ALPR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Dual DB, Cloud Storage (GCS), CI/CD → GCP (NVIDIA L4)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5E20"/>
                </a:solidFill>
                <a:latin typeface="Calibri" panose="020F0502020204030204"/>
              </a:rPr>
              <a:t>✅ 9/9 functional tests · 31/31 unit tests PASS</a:t>
            </a:r>
            <a:endParaRPr sz="1900" b="0" i="0">
              <a:solidFill>
                <a:srgbClr val="1B5E20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08457" y="3671316"/>
            <a:ext cx="4459605" cy="2606040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verview_annot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461" y="3703320"/>
            <a:ext cx="4395597" cy="2542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0" y="6281928"/>
            <a:ext cx="59893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44546A"/>
                </a:solidFill>
                <a:latin typeface="Calibri" panose="020F0502020204030204"/>
              </a:rPr>
              <a:t>Live detection ban đêm — 4 camera, xe máy Việt Nam</a:t>
            </a:r>
            <a:endParaRPr sz="1100" b="0" i="1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Hạn Chế &amp; Hướng Phát Triển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16/17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6032" y="914400"/>
          <a:ext cx="11676888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933688"/>
              </a:tblGrid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Hạn chế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Chi tiết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28176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Recall Pedestrian thấp (CB)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Recall 0.42 ở phiên bản Cơ Bản — SAHI cải thiện lên 0.75 nhưng cần thêm dữ liệu đa dạng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Calibrate tốc độ thủ công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pixels_per_meter=8.0 đặt tay — cần quy trình camera calibration tự động từ điểm mốc thực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ROI tắc nghẽn cố định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User phải cấu hình ROI tay — kém linh hoạt khi camera dịch chuyển hoặc thay đổi góc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Dữ liệu chưa đặc thù VN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FishEye8K (Đài Loan) + VisDrone (Trung Quốc) — xe máy và phong cách lái VN khác biệt đáng kể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Chưa có edge deployment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Chạy server tập trung — chưa tối ưu cho Jetson Nano, Raspberry Pi (&lt; 25 FPS target)</a:t>
                      </a:r>
                      <a:endParaRPr sz="1300" b="0" i="0">
                        <a:solidFill>
                          <a:srgbClr val="44546A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27432" marB="27432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56032" y="3364992"/>
            <a:ext cx="11676888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3401568"/>
            <a:ext cx="10972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Hướng Phát Triển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56032" y="3840480"/>
            <a:ext cx="2807208" cy="2715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3"/>
            </p:custDataLst>
          </p:nvPr>
        </p:nvSpPr>
        <p:spPr>
          <a:xfrm>
            <a:off x="256032" y="3840480"/>
            <a:ext cx="2807208" cy="658368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347472" y="3913632"/>
            <a:ext cx="2624328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Thu thập
dữ liệu VN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347472" y="4544568"/>
            <a:ext cx="2624328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2–3 nút giao Hà Nội
~5.000 ảnh, 3 tháng
Motorbike + Pedestrian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3163824" y="3840480"/>
            <a:ext cx="2807208" cy="2715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3163824" y="3840480"/>
            <a:ext cx="2807208" cy="6583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3255264" y="3913632"/>
            <a:ext cx="2624328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Kiến trúc
mới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3255264" y="4544568"/>
            <a:ext cx="2624328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YOLOv12 · RT-DETR
Self-attention toàn cục
Xử lý distortion tốt hơn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6071616" y="3840480"/>
            <a:ext cx="2807208" cy="2715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1"/>
            </p:custDataLst>
          </p:nvPr>
        </p:nvSpPr>
        <p:spPr>
          <a:xfrm>
            <a:off x="6071616" y="3840480"/>
            <a:ext cx="2807208" cy="6583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6163056" y="3913632"/>
            <a:ext cx="2624328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Edge
computing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6163056" y="4544568"/>
            <a:ext cx="2624328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TensorRT/ONNX Runtime
Jetson Orin Nano
Mục tiêu ≥ 25 FPS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>
            <p:custDataLst>
              <p:tags r:id="rId14"/>
            </p:custDataLst>
          </p:nvPr>
        </p:nvSpPr>
        <p:spPr>
          <a:xfrm>
            <a:off x="8979408" y="3840480"/>
            <a:ext cx="2807208" cy="2715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5"/>
            </p:custDataLst>
          </p:nvPr>
        </p:nvSpPr>
        <p:spPr>
          <a:xfrm>
            <a:off x="8979408" y="3840480"/>
            <a:ext cx="2807208" cy="65836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6"/>
            </p:custDataLst>
          </p:nvPr>
        </p:nvSpPr>
        <p:spPr>
          <a:xfrm>
            <a:off x="9070848" y="3913632"/>
            <a:ext cx="2624328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Dashboard
cải tiến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9070848" y="4544568"/>
            <a:ext cx="2624328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44546A"/>
                </a:solidFill>
                <a:latin typeface="Calibri" panose="020F0502020204030204"/>
              </a:rPr>
              <a:t>React.js + WebSocket
OpenLayers map real-time
Báo cáo PDF/Excel tự động</a:t>
            </a:r>
            <a:endParaRPr sz="1700" b="0" i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 panose="020F0302020204030204"/>
              </a:rPr>
              <a:t>Kết Luận</a:t>
            </a:r>
            <a:endParaRPr sz="36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914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0" i="0">
                <a:solidFill>
                  <a:srgbClr val="DDDDFF"/>
                </a:solidFill>
                <a:latin typeface="Calibri" panose="020F0502020204030204"/>
              </a:rPr>
              <a:t>17/17</a:t>
            </a:r>
            <a:endParaRPr sz="1900" b="0" i="0">
              <a:solidFill>
                <a:srgbClr val="DDDD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256032" y="914400"/>
            <a:ext cx="5532120" cy="5102352"/>
          </a:xfrm>
          <a:prstGeom prst="rect">
            <a:avLst/>
          </a:prstGeom>
          <a:solidFill>
            <a:srgbClr val="FFFFFF"/>
          </a:solidFill>
          <a:ln w="19050">
            <a:solidFill>
              <a:srgbClr val="281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3"/>
            </p:custDataLst>
          </p:nvPr>
        </p:nvSpPr>
        <p:spPr>
          <a:xfrm>
            <a:off x="256032" y="914400"/>
            <a:ext cx="553212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47472" y="987552"/>
            <a:ext cx="53492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Về Nghiên Cứu Mô Hình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47345" y="1877060"/>
            <a:ext cx="5088890" cy="3819525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28176B"/>
                </a:solidFill>
                <a:latin typeface="Calibri" panose="020F0502020204030204"/>
              </a:rPr>
              <a:t>• Pipeline 32-point bbox transform VisDrone → fisheye</a:t>
            </a:r>
            <a:endParaRPr sz="1700" b="0" i="0">
              <a:solidFill>
                <a:srgbClr val="28176B"/>
              </a:solidFill>
              <a:latin typeface="Calibri" panose="020F0502020204030204"/>
            </a:endParaRP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28176B"/>
                </a:solidFill>
                <a:latin typeface="Calibri" panose="020F0502020204030204"/>
              </a:rPr>
              <a:t>• Fine-tune YOLOv11-N:  mAP@0.5 = 0.862  (+39.3%)</a:t>
            </a:r>
            <a:endParaRPr sz="1700" b="0" i="0">
              <a:solidFill>
                <a:srgbClr val="28176B"/>
              </a:solidFill>
              <a:latin typeface="Calibri" panose="020F0502020204030204"/>
            </a:endParaRP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28176B"/>
                </a:solidFill>
                <a:latin typeface="Calibri" panose="020F0502020204030204"/>
              </a:rPr>
              <a:t>• SAHI: Recall người đi bộ  0.42 → 0.75  (+78.6%)</a:t>
            </a:r>
            <a:endParaRPr sz="1700" b="0" i="0">
              <a:solidFill>
                <a:srgbClr val="28176B"/>
              </a:solidFill>
              <a:latin typeface="Calibri" panose="020F0502020204030204"/>
            </a:endParaRP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28176B"/>
                </a:solidFill>
                <a:latin typeface="Calibri" panose="020F0502020204030204"/>
              </a:rPr>
              <a:t>• 2.6M params, 6.5 GFLOPs — phù hợp edge deployment</a:t>
            </a:r>
            <a:endParaRPr sz="1700" b="0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>
            <p:custDataLst>
              <p:tags r:id="rId6"/>
            </p:custDataLst>
          </p:nvPr>
        </p:nvSpPr>
        <p:spPr>
          <a:xfrm>
            <a:off x="5943600" y="914400"/>
            <a:ext cx="5989320" cy="5102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7"/>
            </p:custDataLst>
          </p:nvPr>
        </p:nvSpPr>
        <p:spPr>
          <a:xfrm>
            <a:off x="5943600" y="914400"/>
            <a:ext cx="59893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6053328" y="987552"/>
            <a:ext cx="58064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Về Ứng Dụng &amp; Thực Tiễn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6053328" y="1536192"/>
            <a:ext cx="5806440" cy="2359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28176B"/>
                </a:solidFill>
                <a:latin typeface="Calibri" panose="020F0502020204030204"/>
              </a:rPr>
              <a:t>• 5 module ITS: Speed · Congestion · Incident · Line · ALPR</a:t>
            </a:r>
            <a:endParaRPr sz="1700" b="0" i="0">
              <a:solidFill>
                <a:srgbClr val="28176B"/>
              </a:solidFill>
              <a:latin typeface="Calibri" panose="020F0502020204030204"/>
            </a:endParaRP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28176B"/>
                </a:solidFill>
                <a:latin typeface="Calibri" panose="020F0502020204030204"/>
              </a:rPr>
              <a:t>• 9/9 functional tests · 31/31 unit tests PASS</a:t>
            </a:r>
            <a:endParaRPr sz="1700" b="0" i="0">
              <a:solidFill>
                <a:srgbClr val="28176B"/>
              </a:solidFill>
              <a:latin typeface="Calibri" panose="020F0502020204030204"/>
            </a:endParaRP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28176B"/>
                </a:solidFill>
                <a:latin typeface="Calibri" panose="020F0502020204030204"/>
              </a:rPr>
              <a:t>• Xử lý ảnh &lt; 500ms — sẵn sàng production deployment</a:t>
            </a:r>
            <a:endParaRPr sz="1700" b="0" i="0">
              <a:solidFill>
                <a:srgbClr val="28176B"/>
              </a:solidFill>
              <a:latin typeface="Calibri" panose="020F0502020204030204"/>
            </a:endParaRP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28176B"/>
                </a:solidFill>
                <a:latin typeface="Calibri" panose="020F0502020204030204"/>
              </a:rPr>
              <a:t>• 1 fisheye = 4 camera thường tại ngã tư đô thị</a:t>
            </a:r>
            <a:endParaRPr sz="1700" b="0" i="0">
              <a:solidFill>
                <a:srgbClr val="28176B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>
            <p:custDataLst>
              <p:tags r:id="rId10"/>
            </p:custDataLst>
          </p:nvPr>
        </p:nvSpPr>
        <p:spPr>
          <a:xfrm>
            <a:off x="7145020" y="3945636"/>
            <a:ext cx="3559048" cy="2029968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mera_3_annotated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177024" y="3977640"/>
            <a:ext cx="3495040" cy="1965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53328" y="5980176"/>
            <a:ext cx="57424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44546A"/>
                </a:solidFill>
                <a:latin typeface="Calibri" panose="020F0502020204030204"/>
              </a:rPr>
              <a:t>Hệ thống nhận diện thực tế — camera Việt Nam</a:t>
            </a:r>
            <a:endParaRPr sz="1100" b="0" i="1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6032" y="6080760"/>
            <a:ext cx="11676888" cy="566928"/>
          </a:xfrm>
          <a:prstGeom prst="rect">
            <a:avLst/>
          </a:prstGeom>
          <a:solidFill>
            <a:srgbClr val="281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6199632"/>
            <a:ext cx="113385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 i="0">
                <a:solidFill>
                  <a:srgbClr val="ED7D31"/>
                </a:solidFill>
                <a:latin typeface="Calibri" panose="020F0502020204030204"/>
              </a:rPr>
              <a:t>Đề tài góp phần xây dựng nền tảng ITS Việt Nam ứng dụng AI bản địa</a:t>
            </a:r>
            <a:endParaRPr sz="1900" b="1" i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2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3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4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5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6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7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8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9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10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11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12.xml><?xml version="1.0" encoding="utf-8"?>
<p:tagLst xmlns:p="http://schemas.openxmlformats.org/presentationml/2006/main">
  <p:tag name="KSO_WM_DIAGRAM_VIRTUALLY_FRAME" val="{&quot;height&quot;:231.9,&quot;left&quot;:16.30999999999999,&quot;top&quot;:119.6,&quot;width&quot;:921.5998425196849}"/>
</p:tagLst>
</file>

<file path=ppt/tags/tag13.xml><?xml version="1.0" encoding="utf-8"?>
<p:tagLst xmlns:p="http://schemas.openxmlformats.org/presentationml/2006/main">
  <p:tag name="KSO_WM_DIAGRAM_VIRTUALLY_FRAME" val="{&quot;height&quot;:226.8,&quot;left&quot;:20.16,&quot;top&quot;:72,&quot;width&quot;:919.4399999999999}"/>
</p:tagLst>
</file>

<file path=ppt/tags/tag14.xml><?xml version="1.0" encoding="utf-8"?>
<p:tagLst xmlns:p="http://schemas.openxmlformats.org/presentationml/2006/main">
  <p:tag name="KSO_WM_DIAGRAM_VIRTUALLY_FRAME" val="{&quot;height&quot;:226.8,&quot;left&quot;:20.16,&quot;top&quot;:72,&quot;width&quot;:919.4399999999999}"/>
</p:tagLst>
</file>

<file path=ppt/tags/tag15.xml><?xml version="1.0" encoding="utf-8"?>
<p:tagLst xmlns:p="http://schemas.openxmlformats.org/presentationml/2006/main">
  <p:tag name="KSO_WM_DIAGRAM_VIRTUALLY_FRAME" val="{&quot;height&quot;:226.8,&quot;left&quot;:20.16,&quot;top&quot;:72,&quot;width&quot;:919.4399999999999}"/>
</p:tagLst>
</file>

<file path=ppt/tags/tag16.xml><?xml version="1.0" encoding="utf-8"?>
<p:tagLst xmlns:p="http://schemas.openxmlformats.org/presentationml/2006/main">
  <p:tag name="KSO_WM_DIAGRAM_VIRTUALLY_FRAME" val="{&quot;height&quot;:226.8,&quot;left&quot;:20.16,&quot;top&quot;:72,&quot;width&quot;:919.4399999999999}"/>
</p:tagLst>
</file>

<file path=ppt/tags/tag17.xml><?xml version="1.0" encoding="utf-8"?>
<p:tagLst xmlns:p="http://schemas.openxmlformats.org/presentationml/2006/main">
  <p:tag name="KSO_WM_DIAGRAM_VIRTUALLY_FRAME" val="{&quot;height&quot;:226.8,&quot;left&quot;:20.16,&quot;top&quot;:72,&quot;width&quot;:919.4399999999999}"/>
</p:tagLst>
</file>

<file path=ppt/tags/tag18.xml><?xml version="1.0" encoding="utf-8"?>
<p:tagLst xmlns:p="http://schemas.openxmlformats.org/presentationml/2006/main">
  <p:tag name="KSO_WM_DIAGRAM_VIRTUALLY_FRAME" val="{&quot;height&quot;:226.8,&quot;left&quot;:20.16,&quot;top&quot;:72,&quot;width&quot;:919.4399999999999}"/>
</p:tagLst>
</file>

<file path=ppt/tags/tag19.xml><?xml version="1.0" encoding="utf-8"?>
<p:tagLst xmlns:p="http://schemas.openxmlformats.org/presentationml/2006/main">
  <p:tag name="KSO_WM_DIAGRAM_VIRTUALLY_FRAME" val="{&quot;height&quot;:226.8,&quot;left&quot;:20.16,&quot;top&quot;:72,&quot;width&quot;:919.4399999999999}"/>
</p:tagLst>
</file>

<file path=ppt/tags/tag20.xml><?xml version="1.0" encoding="utf-8"?>
<p:tagLst xmlns:p="http://schemas.openxmlformats.org/presentationml/2006/main">
  <p:tag name="KSO_WM_DIAGRAM_VIRTUALLY_FRAME" val="{&quot;height&quot;:226.8,&quot;left&quot;:20.16,&quot;top&quot;:72,&quot;width&quot;:919.4399999999999}"/>
</p:tagLst>
</file>

<file path=ppt/tags/tag21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22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23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24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25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26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27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28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29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30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31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32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33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34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35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36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37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38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39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40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41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42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43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44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45.xml><?xml version="1.0" encoding="utf-8"?>
<p:tagLst xmlns:p="http://schemas.openxmlformats.org/presentationml/2006/main">
  <p:tag name="KSO_WM_DIAGRAM_VIRTUALLY_FRAME" val="{&quot;height&quot;:360,&quot;left&quot;:7.509999999999991,&quot;top&quot;:97.4,&quot;width&quot;:557.29}"/>
</p:tagLst>
</file>

<file path=ppt/tags/tag46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47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48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49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50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51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52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53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54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55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56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57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58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59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60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61.xml><?xml version="1.0" encoding="utf-8"?>
<p:tagLst xmlns:p="http://schemas.openxmlformats.org/presentationml/2006/main">
  <p:tag name="KSO_WM_DIAGRAM_VIRTUALLY_FRAME" val="{&quot;height&quot;:225.15905511811025,&quot;left&quot;:20.16,&quot;top&quot;:302.4,&quot;width&quot;:908.9738582677164}"/>
</p:tagLst>
</file>

<file path=ppt/tags/tag62.xml><?xml version="1.0" encoding="utf-8"?>
<p:tagLst xmlns:p="http://schemas.openxmlformats.org/presentationml/2006/main">
  <p:tag name="KSO_WM_DIAGRAM_VIRTUALLY_FRAME" val="{&quot;height&quot;:401.76000000000005,&quot;left&quot;:20.16,&quot;top&quot;:72,&quot;width&quot;:919.4399999999999}"/>
</p:tagLst>
</file>

<file path=ppt/tags/tag63.xml><?xml version="1.0" encoding="utf-8"?>
<p:tagLst xmlns:p="http://schemas.openxmlformats.org/presentationml/2006/main">
  <p:tag name="KSO_WM_DIAGRAM_VIRTUALLY_FRAME" val="{&quot;height&quot;:401.76000000000005,&quot;left&quot;:20.16,&quot;top&quot;:72,&quot;width&quot;:919.4399999999999}"/>
</p:tagLst>
</file>

<file path=ppt/tags/tag64.xml><?xml version="1.0" encoding="utf-8"?>
<p:tagLst xmlns:p="http://schemas.openxmlformats.org/presentationml/2006/main">
  <p:tag name="KSO_WM_DIAGRAM_VIRTUALLY_FRAME" val="{&quot;height&quot;:401.76000000000005,&quot;left&quot;:20.16,&quot;top&quot;:72,&quot;width&quot;:919.4399999999999}"/>
</p:tagLst>
</file>

<file path=ppt/tags/tag65.xml><?xml version="1.0" encoding="utf-8"?>
<p:tagLst xmlns:p="http://schemas.openxmlformats.org/presentationml/2006/main">
  <p:tag name="KSO_WM_DIAGRAM_VIRTUALLY_FRAME" val="{&quot;height&quot;:401.76000000000005,&quot;left&quot;:20.16,&quot;top&quot;:72,&quot;width&quot;:919.4399999999999}"/>
</p:tagLst>
</file>

<file path=ppt/tags/tag66.xml><?xml version="1.0" encoding="utf-8"?>
<p:tagLst xmlns:p="http://schemas.openxmlformats.org/presentationml/2006/main">
  <p:tag name="KSO_WM_DIAGRAM_VIRTUALLY_FRAME" val="{&quot;height&quot;:401.76000000000005,&quot;left&quot;:20.16,&quot;top&quot;:72,&quot;width&quot;:919.4399999999999}"/>
</p:tagLst>
</file>

<file path=ppt/tags/tag67.xml><?xml version="1.0" encoding="utf-8"?>
<p:tagLst xmlns:p="http://schemas.openxmlformats.org/presentationml/2006/main">
  <p:tag name="KSO_WM_DIAGRAM_VIRTUALLY_FRAME" val="{&quot;height&quot;:401.76000000000005,&quot;left&quot;:20.16,&quot;top&quot;:72,&quot;width&quot;:919.4399999999999}"/>
</p:tagLst>
</file>

<file path=ppt/tags/tag68.xml><?xml version="1.0" encoding="utf-8"?>
<p:tagLst xmlns:p="http://schemas.openxmlformats.org/presentationml/2006/main">
  <p:tag name="KSO_WM_DIAGRAM_VIRTUALLY_FRAME" val="{&quot;height&quot;:401.76000000000005,&quot;left&quot;:20.16,&quot;top&quot;:72,&quot;width&quot;:919.4399999999999}"/>
</p:tagLst>
</file>

<file path=ppt/tags/tag69.xml><?xml version="1.0" encoding="utf-8"?>
<p:tagLst xmlns:p="http://schemas.openxmlformats.org/presentationml/2006/main">
  <p:tag name="KSO_WM_DIAGRAM_VIRTUALLY_FRAME" val="{&quot;height&quot;:401.76000000000005,&quot;left&quot;:20.16,&quot;top&quot;:72,&quot;width&quot;:919.4399999999999}"/>
</p:tagLst>
</file>

<file path=ppt/tags/tag70.xml><?xml version="1.0" encoding="utf-8"?>
<p:tagLst xmlns:p="http://schemas.openxmlformats.org/presentationml/2006/main">
  <p:tag name="KSO_WM_DIAGRAM_VIRTUALLY_FRAME" val="{&quot;height&quot;:401.76000000000005,&quot;left&quot;:20.16,&quot;top&quot;:72,&quot;width&quot;:919.4399999999999}"/>
</p:tagLst>
</file>

<file path=ppt/tags/tag71.xml><?xml version="1.0" encoding="utf-8"?>
<p:tagLst xmlns:p="http://schemas.openxmlformats.org/presentationml/2006/main">
  <p:tag name="KSO_WM_DIAGRAM_VIRTUALLY_FRAME" val="{&quot;height&quot;:401.76000000000005,&quot;left&quot;:20.16,&quot;top&quot;:72,&quot;width&quot;:919.43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10207</Words>
  <Application>WPS Presentation</Application>
  <PresentationFormat>On-screen Show (4:3)</PresentationFormat>
  <Paragraphs>782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Nam Nguyễn</cp:lastModifiedBy>
  <cp:revision>5</cp:revision>
  <dcterms:created xsi:type="dcterms:W3CDTF">2013-01-27T09:14:00Z</dcterms:created>
  <dcterms:modified xsi:type="dcterms:W3CDTF">2026-06-17T22:35:52Z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8D2AC56395F14A3EAEAF29DCAE11972B_12</vt:lpwstr>
  </property>
  <property fmtid="{D5CDD505-2E9C-101B-9397-08002B2CF9AE}" pid="3" name="KSOProductBuildVer">
    <vt:lpwstr>2057-12.2.0.23202</vt:lpwstr>
  </property>
</Properties>
</file>