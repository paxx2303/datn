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56" r:id="rId3"/>
    <p:sldId id="257" r:id="rId4"/>
    <p:sldId id="258" r:id="rId5"/>
    <p:sldId id="260" r:id="rId6"/>
    <p:sldId id="262" r:id="rId7"/>
    <p:sldId id="263" r:id="rId8"/>
    <p:sldId id="280" r:id="rId10"/>
    <p:sldId id="264" r:id="rId11"/>
    <p:sldId id="265" r:id="rId12"/>
    <p:sldId id="267" r:id="rId13"/>
    <p:sldId id="268" r:id="rId14"/>
    <p:sldId id="269" r:id="rId15"/>
    <p:sldId id="270" r:id="rId16"/>
    <p:sldId id="274" r:id="rId17"/>
    <p:sldId id="275" r:id="rId18"/>
    <p:sldId id="277" r:id="rId19"/>
    <p:sldId id="278" r:id="rId20"/>
    <p:sldId id="279" r:id="rId21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9" userDrawn="1">
          <p15:clr>
            <a:srgbClr val="A4A3A4"/>
          </p15:clr>
        </p15:guide>
        <p15:guide id="2" pos="28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29"/>
        <p:guide pos="287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6514" y="1143000"/>
            <a:ext cx="548497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4" Type="http://schemas.openxmlformats.org/officeDocument/2006/relationships/slideLayout" Target="../slideLayouts/slideLayout7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20.xml"/><Relationship Id="rId8" Type="http://schemas.openxmlformats.org/officeDocument/2006/relationships/tags" Target="../tags/tag19.xml"/><Relationship Id="rId7" Type="http://schemas.openxmlformats.org/officeDocument/2006/relationships/tags" Target="../tags/tag18.xml"/><Relationship Id="rId6" Type="http://schemas.openxmlformats.org/officeDocument/2006/relationships/tags" Target="../tags/tag17.xml"/><Relationship Id="rId5" Type="http://schemas.openxmlformats.org/officeDocument/2006/relationships/tags" Target="../tags/tag16.xml"/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tags" Target="../tags/tag23.xml"/><Relationship Id="rId3" Type="http://schemas.openxmlformats.org/officeDocument/2006/relationships/tags" Target="../tags/tag22.xml"/><Relationship Id="rId28" Type="http://schemas.openxmlformats.org/officeDocument/2006/relationships/slideLayout" Target="../slideLayouts/slideLayout7.xml"/><Relationship Id="rId27" Type="http://schemas.openxmlformats.org/officeDocument/2006/relationships/image" Target="../media/image14.jpeg"/><Relationship Id="rId26" Type="http://schemas.openxmlformats.org/officeDocument/2006/relationships/tags" Target="../tags/tag45.xml"/><Relationship Id="rId25" Type="http://schemas.openxmlformats.org/officeDocument/2006/relationships/tags" Target="../tags/tag44.xml"/><Relationship Id="rId24" Type="http://schemas.openxmlformats.org/officeDocument/2006/relationships/tags" Target="../tags/tag43.xml"/><Relationship Id="rId23" Type="http://schemas.openxmlformats.org/officeDocument/2006/relationships/tags" Target="../tags/tag42.xml"/><Relationship Id="rId22" Type="http://schemas.openxmlformats.org/officeDocument/2006/relationships/tags" Target="../tags/tag41.xml"/><Relationship Id="rId21" Type="http://schemas.openxmlformats.org/officeDocument/2006/relationships/tags" Target="../tags/tag40.xml"/><Relationship Id="rId20" Type="http://schemas.openxmlformats.org/officeDocument/2006/relationships/tags" Target="../tags/tag39.xml"/><Relationship Id="rId2" Type="http://schemas.openxmlformats.org/officeDocument/2006/relationships/tags" Target="../tags/tag21.xml"/><Relationship Id="rId19" Type="http://schemas.openxmlformats.org/officeDocument/2006/relationships/tags" Target="../tags/tag38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tags" Target="../tags/tag3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6.jpe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tags" Target="../tags/tag52.xml"/><Relationship Id="rId7" Type="http://schemas.openxmlformats.org/officeDocument/2006/relationships/tags" Target="../tags/tag51.xml"/><Relationship Id="rId6" Type="http://schemas.openxmlformats.org/officeDocument/2006/relationships/tags" Target="../tags/tag50.xml"/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8" Type="http://schemas.openxmlformats.org/officeDocument/2006/relationships/slideLayout" Target="../slideLayouts/slideLayout7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tags" Target="../tags/tag56.xml"/><Relationship Id="rId11" Type="http://schemas.openxmlformats.org/officeDocument/2006/relationships/tags" Target="../tags/tag55.xml"/><Relationship Id="rId10" Type="http://schemas.openxmlformats.org/officeDocument/2006/relationships/tags" Target="../tags/tag54.xml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tags" Target="../tags/tag68.xml"/><Relationship Id="rId7" Type="http://schemas.openxmlformats.org/officeDocument/2006/relationships/tags" Target="../tags/tag67.xml"/><Relationship Id="rId6" Type="http://schemas.openxmlformats.org/officeDocument/2006/relationships/tags" Target="../tags/tag66.xml"/><Relationship Id="rId5" Type="http://schemas.openxmlformats.org/officeDocument/2006/relationships/tags" Target="../tags/tag65.xml"/><Relationship Id="rId4" Type="http://schemas.openxmlformats.org/officeDocument/2006/relationships/tags" Target="../tags/tag64.xml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3.jpeg"/><Relationship Id="rId11" Type="http://schemas.openxmlformats.org/officeDocument/2006/relationships/tags" Target="../tags/tag71.xml"/><Relationship Id="rId10" Type="http://schemas.openxmlformats.org/officeDocument/2006/relationships/tags" Target="../tags/tag70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56032" y="960120"/>
            <a:ext cx="7772400" cy="5577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9940" y="296545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TRƯỜNG ĐẠI HỌC GIAO THÔNG VẬN TẢI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60120"/>
            <a:ext cx="777240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749807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ED7D31"/>
                </a:solidFill>
                <a:latin typeface="Calibri" panose="020F0502020204030204"/>
              </a:rPr>
              <a:t>KHOA CÔNG NGHỆ THÔNG TIN  ·  ĐỒ ÁN TỐT NGHIỆP</a:t>
            </a:r>
            <a:endParaRPr sz="19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690370"/>
            <a:ext cx="75895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28176B"/>
                </a:solidFill>
                <a:latin typeface="Calibri Light" panose="020F0302020204030204"/>
              </a:rPr>
              <a:t>XÂY DỰNG HỆ THỐNG NHẬN DIỆN
VẬT THỂ QUA CAMERA MẮT CÁ</a:t>
            </a:r>
            <a:endParaRPr sz="3800" b="1" i="0">
              <a:solidFill>
                <a:srgbClr val="28176B"/>
              </a:solidFill>
              <a:latin typeface="Calibri Light" panose="020F03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6400800" cy="274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73152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Sinh viên thực hiện: Nguyễn Quốc Nam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Mã sinh viên: 221220938  ·  Lớp: CNTT1-K63  ·  Khóa 63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Ngành: Công nghệ Thông tin — Hệ chính quy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Giảng viên hướng dẫn: TS. Nguyễn Đức Dư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Hà Nội, 2026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43316" y="1019841"/>
            <a:ext cx="3785616" cy="21574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mera_3_orig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51845"/>
            <a:ext cx="3721608" cy="20934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320" y="3181826"/>
            <a:ext cx="372160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Camera thực tế — góc nhìn đường phố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43316" y="3260121"/>
            <a:ext cx="3785616" cy="21574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mera_3_annota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292125"/>
            <a:ext cx="3721608" cy="20934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75320" y="5422106"/>
            <a:ext cx="372160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YOLOv11 nhận diện: Car · Pedestrian · Motorbike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Đại học Giao thông Vận tải  ·  Hà Nội  ·  2026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33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Đặt Vấn Đề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2/17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37160" y="1185545"/>
            <a:ext cx="7583805" cy="1868805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206754"/>
            <a:ext cx="68580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Thực Trạng Giao Thông Việt Nam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7345" y="1610360"/>
            <a:ext cx="7492365" cy="12604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7,8 triệu ô tô &amp; 73 triệu xe máy đang lưu hành (Tổng cục Thống kê, 2024)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Năm 2023: hơn 10.000 vụ tai nạn giao thông nghiêm trọng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Camera CCTV truyền thống: giám sát thủ công — không phân tích tự động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6032" y="3127248"/>
            <a:ext cx="7040880" cy="1874519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3200400"/>
            <a:ext cx="68580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Tại Sao Camera Fisheye?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" y="3611880"/>
            <a:ext cx="685800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8B4513"/>
                </a:solidFill>
                <a:latin typeface="Calibri" panose="020F0502020204030204"/>
              </a:rPr>
              <a:t>• Góc nhìn 180°–220° — một camera bao phủ toàn bộ ngã tư</a:t>
            </a:r>
            <a:endParaRPr sz="1900" b="1" i="0">
              <a:solidFill>
                <a:srgbClr val="8B4513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Tiết kiệm chi phí: thay thế 4 camera thường bằng 1 camera fisheye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Nhưng gây barrel distortion → AI thông thường không áp dụng trực tiếp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498079" y="6181344"/>
            <a:ext cx="443484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4-camera fisheye giám sát ngã tư — ban đêm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6032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Bbox kém
phù hợp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7472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Đối tượng méo ở vùng biên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255263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55263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6703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10–30 px
nhỏ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6703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Người đi bộ xa tâm ảnh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54496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4496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Phi tuyến
vị trí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45936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Kích thước biến đổi theo vị trí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253728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53728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8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Dữ liệu
khan hiếm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345168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Ảnh fisheye nhãn chất lượng cao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290" y="1277620"/>
            <a:ext cx="4345305" cy="37979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140335"/>
            <a:ext cx="1051560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Mục Tiêu &amp; Phạm Vi </a:t>
            </a:r>
            <a:r>
              <a:rPr lang="en-US" sz="3600" b="1" i="0">
                <a:solidFill>
                  <a:srgbClr val="FFFFFF"/>
                </a:solidFill>
                <a:latin typeface="Calibri Light" panose="020F0302020204030204"/>
              </a:rPr>
              <a:t>Đề Tài </a:t>
            </a:r>
            <a:endParaRPr lang="en-US"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3/17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07137" y="1518920"/>
            <a:ext cx="3749039" cy="23317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316865" y="1610360"/>
            <a:ext cx="914400" cy="7683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01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1304417" y="1656080"/>
            <a:ext cx="2560320" cy="82994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Fine-tune YOLOv11-N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1005332" y="2588260"/>
            <a:ext cx="2560320" cy="9683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Trên bộ dữ liệu kết hợp
FishEye8K + VisDrone2019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>
            <p:custDataLst>
              <p:tags r:id="rId6"/>
            </p:custDataLst>
          </p:nvPr>
        </p:nvSpPr>
        <p:spPr>
          <a:xfrm>
            <a:off x="4184777" y="1518920"/>
            <a:ext cx="3749039" cy="23317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4294505" y="1610360"/>
            <a:ext cx="914400" cy="7683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02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5282057" y="1656080"/>
            <a:ext cx="2560320" cy="4603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Tích hợp SAHI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5282057" y="2296160"/>
            <a:ext cx="2560320" cy="12604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Nâng cao phát hiện đối tượng
nhỏ (người đi bộ xa tâm ảnh)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>
            <p:custDataLst>
              <p:tags r:id="rId10"/>
            </p:custDataLst>
          </p:nvPr>
        </p:nvSpPr>
        <p:spPr>
          <a:xfrm>
            <a:off x="8162416" y="1518920"/>
            <a:ext cx="3749039" cy="2331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8272144" y="1610360"/>
            <a:ext cx="914400" cy="7683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03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9259696" y="1656080"/>
            <a:ext cx="2560320" cy="4603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Xây dựng Flask ITS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9259696" y="2296160"/>
            <a:ext cx="2560320" cy="12604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Ứng dụng phân tích giao thông
với 5 module thông minh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56032" y="4004818"/>
            <a:ext cx="116128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Phạm vi: Phát hiện 5 lớp phương tiện giao thông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01752" y="4427855"/>
          <a:ext cx="11676888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011680"/>
                <a:gridCol w="6464808"/>
              </a:tblGrid>
              <a:tr h="3368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Lớp đối tượng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Tỷ lệ trong dataset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Đặc điểm / Thách thức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Car (Ô tô)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~45%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Phổ biến nhất, kích thước trung bình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Bus (Xe buýt)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~8%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Đối tượng lớn, dễ phát hiện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Truck (Xe tải)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~12%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Tỷ lệ dài/rộng bất thường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Pedestrian (Người đi bộ)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~20%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Thách thức nhất — nhỏ &amp; bị che khuất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Motorbike (Xe máy)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~15%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Phổ biến ở Việt Nam, nhỏ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Cơ Sở Lý Thuyết: Mô Hình Chiếu Fisheye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4/17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2925" y="1473835"/>
            <a:ext cx="6144895" cy="184531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175" y="1828165"/>
            <a:ext cx="5815330" cy="113728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Phương trình chiếu tổng quát:  r(θ) = f · g(θ) 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  — f: tiêu cự  ·  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θ: góc tới  ·  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g(θ): hàm đặc trưng từng mô hình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6032" y="4334256"/>
            <a:ext cx="11676888" cy="4389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4379976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Ảnh hưởng của Barrel Distortion lên bài toán nhận diện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56032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① Hình dạng méo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7472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Bbox hình chữ nhật kém
phù hợp cho đối tượng
vùng biên ảnh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163824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② Feature map lệch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55264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CNN xử lý feature map
phân phối không đều
theo tâm/biên ảnh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71616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3056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③ Kích thước phi tuyến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63056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Cùng đối tượng, khác
vị trí → kích thước
khác nhau đáng kể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79408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④ Domain gap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0848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Model train ảnh thẳng
không áp dụng trực
tiếp cho fisheye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amera1_A_10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0400" y="1236345"/>
            <a:ext cx="3415030" cy="29857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YOLOv11-N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5/17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2.6M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7472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Tham số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63824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55264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6.5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55264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GFLOPs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71616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~5.3MB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63056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Weights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979408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Nano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70848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Phiên bản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344805" y="1860804"/>
            <a:ext cx="9499340" cy="23957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809" y="1892808"/>
            <a:ext cx="9435332" cy="2331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6032" y="4261104"/>
            <a:ext cx="1167688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Kiến trúc YOLOv11: Backbone (C3k2) → Neck (FPN+AIFI) → Detection Head (Anchor-free)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56032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4315968"/>
            <a:ext cx="3749039" cy="5669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4389120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BACKBONE
C3k2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7472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Kế thừa CSP: 2 nhánh (bottleneck + skip)
Giảm 3→2 block: ít params, gradient tốt hơn
Hội tụ ổn định khi fine-tune dataset nhỏ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233672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4315968"/>
            <a:ext cx="3749039" cy="56692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25112" y="4322445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NECK
FPN + AIFI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325112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FPN: đặc trưng sâu → lớp nông (đối tượng nhỏ)
AIFI Transformer: self-attention intra-scale
Mô hình hóa quan hệ dài hạn trong feature map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211311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11311" y="4315968"/>
            <a:ext cx="3749039" cy="56692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710" y="4389120"/>
            <a:ext cx="3648075" cy="540385"/>
          </a:xfrm>
          <a:prstGeom prst="rect">
            <a:avLst/>
          </a:prstGeom>
          <a:noFill/>
        </p:spPr>
        <p:txBody>
          <a:bodyPr wrap="square" lIns="45720" rIns="4572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HEAD</a:t>
            </a:r>
            <a:r>
              <a:rPr lang="en-US" sz="1700" b="1" i="0">
                <a:solidFill>
                  <a:srgbClr val="FFFFFF"/>
                </a:solidFill>
                <a:latin typeface="Calibri" panose="020F0502020204030204"/>
              </a:rPr>
              <a:t>  </a:t>
            </a:r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Anchor-free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02751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Dự đoán l, r, t, b từ tâm grid cell
Không cần chọn anchor size/ratio
Tốt hơn với tỷ lệ bất thường (bus nằm ngang)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So sánh với YOLOv8-N: mAP@0.5:0.95 = 39.5% vs 37.3%  ·  Ít tham số hơn (2.6M vs 3.2M)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Kỹ Thuật SAHI — Sliced Aided Hyper Inference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6/17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53035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64008" cy="53035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C62828"/>
                </a:solidFill>
                <a:latin typeface="Calibri" panose="020F0502020204030204"/>
              </a:rPr>
              <a:t>Vấn đề: Người đi bộ xa tâm ảnh fisheye chỉ chiếm 10–30 pixel — model bỏ sót nhiều</a:t>
            </a:r>
            <a:endParaRPr sz="1700" b="1" i="0">
              <a:solidFill>
                <a:srgbClr val="C62828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7472" y="1600200"/>
            <a:ext cx="49377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Nguyên lý — Akyon et al., IEEE ICIP 2022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84375"/>
            <a:ext cx="6085205" cy="4620260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250" y="1564640"/>
            <a:ext cx="4727575" cy="2461895"/>
          </a:xfrm>
          <a:prstGeom prst="rect">
            <a:avLst/>
          </a:prstGeom>
        </p:spPr>
      </p:pic>
      <p:pic>
        <p:nvPicPr>
          <p:cNvPr id="38" name="Pictur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250" y="4026535"/>
            <a:ext cx="4727575" cy="26028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Kỹ Thuật SAHI — Sliced Aided Hyper Inference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6/17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48945" y="1180465"/>
            <a:ext cx="5209540" cy="376555"/>
          </a:xfrm>
          <a:prstGeom prst="rect">
            <a:avLst/>
          </a:prstGeom>
          <a:noFill/>
        </p:spPr>
        <p:txBody>
          <a:bodyPr wrap="square" lIns="45720" rIns="45720">
            <a:no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Nguyên lý — Akyon et al., IEEE ICIP 2022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28360" y="1557655"/>
            <a:ext cx="6260465" cy="4597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24470" y="1557655"/>
            <a:ext cx="2211705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Kết Quả Thực Nghiệm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679055" y="1961515"/>
            <a:ext cx="2357120" cy="427355"/>
          </a:xfrm>
          <a:prstGeom prst="rect">
            <a:avLst/>
          </a:prstGeom>
          <a:noFill/>
        </p:spPr>
        <p:txBody>
          <a:bodyPr wrap="square" lIns="45720" rIns="45720">
            <a:no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Pedestrian Recall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444740" y="2232025"/>
            <a:ext cx="3227070" cy="675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1B5E20"/>
                </a:solidFill>
                <a:latin typeface="Calibri" panose="020F0502020204030204"/>
              </a:rPr>
              <a:t>0.42  →  0.75</a:t>
            </a:r>
            <a:endParaRPr sz="38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927725" y="2863215"/>
            <a:ext cx="6005195" cy="27070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Lợi ích trong bài toán fisheye: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Mỗi lát ảnh có biến dạng cục bộ ít hơn → model dễ học hơn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Đối tượng nhỏ ở biên xuất hiện tương đối lớn hơn trong lát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</a:p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Đánh đổi tốc độ: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Inference: 1.8–2.5 giây/ảnh (6–8× chậm hơn standard)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Phù hợp: phân tích offline, snapshot định kỳ 2–3s/lần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30" y="1691640"/>
            <a:ext cx="5561330" cy="43948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889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Bộ Dữ Liệu: FishEye8K + VisDrone2019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7/17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56032" y="914400"/>
            <a:ext cx="5532120" cy="288036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custDataLst>
              <p:tags r:id="rId3"/>
            </p:custDataLst>
          </p:nvPr>
        </p:nvSpPr>
        <p:spPr>
          <a:xfrm>
            <a:off x="256032" y="914400"/>
            <a:ext cx="5532120" cy="4389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347472" y="960120"/>
            <a:ext cx="534924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FishEye8K — CVPRW 2023, AI City Challenge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347472" y="1417320"/>
            <a:ext cx="53492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1">
                <a:solidFill>
                  <a:srgbClr val="44546A"/>
                </a:solidFill>
                <a:latin typeface="Calibri" panose="020F0502020204030204"/>
              </a:rPr>
              <a:t>Camera giám sát Sở Cảnh sát Hsinchu, Đài Loan · Điều kiện đa dạng (ngày/đêm/mưa/sương)</a:t>
            </a:r>
            <a:endParaRPr sz="17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938528"/>
          <a:ext cx="5468112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1645920"/>
                <a:gridCol w="1170432"/>
              </a:tblGrid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Split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nhãn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TB/ảnh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Train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4.230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112.213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21,2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Val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1.058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Test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2.712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Tổng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8.000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112.213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>
            <p:custDataLst>
              <p:tags r:id="rId6"/>
            </p:custDataLst>
          </p:nvPr>
        </p:nvSpPr>
        <p:spPr>
          <a:xfrm>
            <a:off x="5943600" y="914400"/>
            <a:ext cx="5989320" cy="2880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7"/>
            </p:custDataLst>
          </p:nvPr>
        </p:nvSpPr>
        <p:spPr>
          <a:xfrm>
            <a:off x="5943600" y="914400"/>
            <a:ext cx="5989320" cy="43891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8"/>
            </p:custDataLst>
          </p:nvPr>
        </p:nvSpPr>
        <p:spPr>
          <a:xfrm>
            <a:off x="6053328" y="960120"/>
            <a:ext cx="580644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VisDrone2019 — ICCV 2019, Đại học Thiên Tân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>
            <p:custDataLst>
              <p:tags r:id="rId9"/>
            </p:custDataLst>
          </p:nvPr>
        </p:nvSpPr>
        <p:spPr>
          <a:xfrm>
            <a:off x="6053328" y="1417320"/>
            <a:ext cx="5806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1">
                <a:solidFill>
                  <a:srgbClr val="44546A"/>
                </a:solidFill>
                <a:latin typeface="Calibri" panose="020F0502020204030204"/>
              </a:rPr>
              <a:t>Ảnh UAV, độ cao 10–70m, góc nghiêng + overhead · Ánh xạ 10 → 5 lớp</a:t>
            </a:r>
            <a:endParaRPr sz="17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80176" y="1938528"/>
          <a:ext cx="5925311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084831"/>
              </a:tblGrid>
              <a:tr h="44577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Split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nhãn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Train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6.471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343.205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Val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548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38.759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Test-Dev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1.610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75.102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228727" y="4352671"/>
            <a:ext cx="11676888" cy="41148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218" y="4287012"/>
            <a:ext cx="1133856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Pipeline chuyển đổi VisDrone → Fisheye  (giảm 26% nhãn sau lọc bbox không hợp lệ)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4140" y="4713605"/>
            <a:ext cx="9690100" cy="19157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Cấu Hình Huấn Luyện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8/17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475488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978408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Môi trường: Kaggle Notebooks  ·  GPU Tesla P100-PCIE-16GB  ·  17.1 GB VRAM  ·  RAM 25 GB  ·  CUDA 12.1  ·  PyTorch 2.2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472184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743200"/>
              </a:tblGrid>
              <a:tr h="38481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Siêu tham số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Cơ Bản (CB)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Nâng Cao (NC)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model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yolo11n.pt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yolo11n.pt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epochs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80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batch_size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img_size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640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960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optimizer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AdamW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SGD + Cosine LR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lr0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0.0005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0.01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freeze backbone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Không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Có — 10 lớp đầu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Dataset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FishEye8K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FishEye8K + VisDrone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SAHI inference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Không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Có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AMP (FP16)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mosaic / mixup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1.0 / 0.05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0.8 / 0.15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001000" y="1472184"/>
            <a:ext cx="3931920" cy="46177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9872" y="1545336"/>
            <a:ext cx="3749039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Cân bằng dữ liệu
(Class Imbalance)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19872" y="2194560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2286000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Copy-Paste Aug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11312" y="2706624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Ưu tiên lớp thiểu số
Bus, Truck khi augment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119872" y="3456432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547872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Class Weight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11312" y="3968496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Tự động điều chỉnh
theo tần suất lớp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119872" y="4718304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4809744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Oversampling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11312" y="5230368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Ưu tiên ảnh chứa
nhiều Bus / Truck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Thời gian huấn luyện:  CB ~3.8 giờ  ·  NC ~6.8 giờ (img_size=960, 80 epoch)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So Sánh 2 Phiên Bản &amp; Phân Tích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9/17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8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783080"/>
                <a:gridCol w="1965960"/>
                <a:gridCol w="1783080"/>
                <a:gridCol w="1783080"/>
                <a:gridCol w="1709928"/>
              </a:tblGrid>
              <a:tr h="463296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Phiên bản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mAP@0.5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mAP@0.5:0.95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Precision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Recall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FPS (GPU)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6329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Cơ Bản (FishEye8K only)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0.619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0.363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0.650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0.570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~41 FPS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6329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Nâng Cao (+VisDrone
+SAHI+Freeze)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0.862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0.572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0.869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0.762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~12 (SAHI)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2377440"/>
            <a:ext cx="2807208" cy="54864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1B5E20"/>
                </a:solidFill>
                <a:latin typeface="Calibri" panose="020F0502020204030204"/>
              </a:rPr>
              <a:t>+39.3%</a:t>
            </a:r>
            <a:endParaRPr sz="38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7472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mAP@0.5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0.619 → 0.862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163824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63824" y="237744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4472C4"/>
                </a:solidFill>
                <a:latin typeface="Calibri" panose="020F0502020204030204"/>
              </a:rPr>
              <a:t>+57.6%</a:t>
            </a:r>
            <a:endParaRPr sz="3800" b="1" i="0">
              <a:solidFill>
                <a:srgbClr val="4472C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55264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mAP@0.5:0.95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55264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0.363 → 0.572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71616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71616" y="2377440"/>
            <a:ext cx="2807208" cy="54864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28176B"/>
                </a:solidFill>
                <a:latin typeface="Calibri" panose="020F0502020204030204"/>
              </a:rPr>
              <a:t>+33.7%</a:t>
            </a:r>
            <a:endParaRPr sz="38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163056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Precision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979408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9408" y="2377440"/>
            <a:ext cx="2807208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ED7D31"/>
                </a:solidFill>
                <a:latin typeface="Calibri" panose="020F0502020204030204"/>
              </a:rPr>
              <a:t>+33.7%</a:t>
            </a:r>
            <a:endParaRPr sz="38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70848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Recall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56032" y="3877056"/>
            <a:ext cx="11676888" cy="41148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913632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Phân Tích Yếu Tố Cải Thiện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56032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Freeze backbone
(freeze=10)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47472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Bảo toàn đặc trưng pretrained COCO,
tránh overfitting dataset nhỏ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163824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55264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Dataset VisDrone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255264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Tăng 2× số mẫu → cải thiện
Bus, Truck, Pedestrian đáng kể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071616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63056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SAHI inference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63056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Pedestrian Recall 0.42 → 0.75
(+78.6% — cải thiện lớn nhất)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979408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70848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Đánh đổi tốc độ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070848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41 FPS → 12 FPS (SAHI)
Chấp nhận được cho offline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mAP Curves" descr="fig_map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965" y="850265"/>
            <a:ext cx="5095240" cy="2799715"/>
          </a:xfrm>
          <a:prstGeom prst="rect">
            <a:avLst/>
          </a:prstGeom>
        </p:spPr>
      </p:pic>
      <p:pic>
        <p:nvPicPr>
          <p:cNvPr id="42" name="Improvement Diagram" descr="fig_wf_mapimpro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00" y="4750000"/>
            <a:ext cx="11400000" cy="18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Hệ Thống Ứng Dụng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10/17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25312" y="210058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templates/index.html + static/js/*  ·  router.js · appState.js · api.js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O Agent Intent Analysis-2026-06-17-2241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" y="1764030"/>
            <a:ext cx="11974195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Xử Lý Video Bất Đồng Bộ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11/17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032" y="1517904"/>
            <a:ext cx="1167688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Giải pháp: Job Queue bất đồng bộ — ThreadPoolExecutor  (HTTP 202 Accepted pattern)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6032" y="1956815"/>
            <a:ext cx="182880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Client POST
/api/detect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0040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Upload video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2263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240280" y="1956815"/>
            <a:ext cx="1828800" cy="9601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04288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Validate +
Lưu file tạm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04288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Server side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096512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224528" y="1956815"/>
            <a:ext cx="1828800" cy="9601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8536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Tạo job_id
(UUID v4)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88536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DB: pending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80760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08776" y="1956815"/>
            <a:ext cx="1828800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HTTP 202
Accepted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272784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&lt; 200ms ✓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65008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193023" y="1956815"/>
            <a:ext cx="182880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1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Client poll
GET /jobs/id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57031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Mỗi 2 giây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049255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0177272" y="1956815"/>
            <a:ext cx="1828800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Stream MP4
khi 'done'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232390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Streaming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56032" y="3538855"/>
            <a:ext cx="11676888" cy="2487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063240"/>
            <a:ext cx="64008" cy="24871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127248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Background Worker Thread — VideoJobQueue.submit()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3250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① Đọc từng frame video (OpenCV)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297680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② YOLO inference trên frame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256905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③ Speed + Congestion overlay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7385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④ Ghi annotation vào frame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297680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⑤ Ghép annotated.mp4 + preview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321040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⑥ Cập nhật DB: done / failed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256032" y="5641848"/>
            <a:ext cx="11676888" cy="53035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353" y="5550789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28176B"/>
                </a:solidFill>
                <a:latin typeface="Calibri" panose="020F0502020204030204"/>
              </a:rPr>
              <a:t>max_workers=2  ·  max_queue_size=10  ·  Job states: pending → running → done / failed  ·  Tránh quá tải VRAM</a:t>
            </a:r>
            <a:endParaRPr sz="19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5 Module Phân Tích Giao Thông ITS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12/17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05232" y="12369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custDataLst>
              <p:tags r:id="rId3"/>
            </p:custDataLst>
          </p:nvPr>
        </p:nvSpPr>
        <p:spPr>
          <a:xfrm>
            <a:off x="205232" y="1236980"/>
            <a:ext cx="822960" cy="85039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05232" y="12369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01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1119632" y="13009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SpeedEstimator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1119632" y="17124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IoU tracking liên frame → pixel displacement → km/h · Cảnh báo vi phạm tốc độ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>
            <p:custDataLst>
              <p:tags r:id="rId7"/>
            </p:custDataLst>
          </p:nvPr>
        </p:nvSpPr>
        <p:spPr>
          <a:xfrm>
            <a:off x="205232" y="21513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8"/>
            </p:custDataLst>
          </p:nvPr>
        </p:nvSpPr>
        <p:spPr>
          <a:xfrm>
            <a:off x="205232" y="2151380"/>
            <a:ext cx="822960" cy="85039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205232" y="21513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02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1119632" y="22153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4472C4"/>
                </a:solidFill>
                <a:latin typeface="Calibri" panose="020F0502020204030204"/>
              </a:rPr>
              <a:t>CongestionDetector</a:t>
            </a:r>
            <a:endParaRPr sz="1700" b="1" i="0">
              <a:solidFill>
                <a:srgbClr val="4472C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1119632" y="26268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ROI mật độ → 4 mức Level of Service · Visualize overlay màu theo mức độ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>
            <p:custDataLst>
              <p:tags r:id="rId12"/>
            </p:custDataLst>
          </p:nvPr>
        </p:nvSpPr>
        <p:spPr>
          <a:xfrm>
            <a:off x="205232" y="30657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3"/>
            </p:custDataLst>
          </p:nvPr>
        </p:nvSpPr>
        <p:spPr>
          <a:xfrm>
            <a:off x="205232" y="3065780"/>
            <a:ext cx="822960" cy="85039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4"/>
            </p:custDataLst>
          </p:nvPr>
        </p:nvSpPr>
        <p:spPr>
          <a:xfrm>
            <a:off x="205232" y="30657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03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>
            <p:custDataLst>
              <p:tags r:id="rId15"/>
            </p:custDataLst>
          </p:nvPr>
        </p:nvSpPr>
        <p:spPr>
          <a:xfrm>
            <a:off x="1119632" y="31297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C62828"/>
                </a:solidFill>
                <a:latin typeface="Calibri" panose="020F0502020204030204"/>
              </a:rPr>
              <a:t>IncidentDetector</a:t>
            </a:r>
            <a:endParaRPr sz="1700" b="1" i="0">
              <a:solidFill>
                <a:srgbClr val="C62828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1119632" y="35412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3 loại sự cố: đỗ sai · dừng đột ngột · ngược chiều · Alert webhook async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>
            <p:custDataLst>
              <p:tags r:id="rId17"/>
            </p:custDataLst>
          </p:nvPr>
        </p:nvSpPr>
        <p:spPr>
          <a:xfrm>
            <a:off x="205232" y="39801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205232" y="3980180"/>
            <a:ext cx="822960" cy="850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205232" y="39801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04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>
            <p:custDataLst>
              <p:tags r:id="rId20"/>
            </p:custDataLst>
          </p:nvPr>
        </p:nvSpPr>
        <p:spPr>
          <a:xfrm>
            <a:off x="1119632" y="40441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LineCounter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1"/>
            </p:custDataLst>
          </p:nvPr>
        </p:nvSpPr>
        <p:spPr>
          <a:xfrm>
            <a:off x="1119632" y="44556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4 vạch ảo N/S/E/W · Cross-product xác định hướng · Đếm xe theo giờ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>
            <p:custDataLst>
              <p:tags r:id="rId22"/>
            </p:custDataLst>
          </p:nvPr>
        </p:nvSpPr>
        <p:spPr>
          <a:xfrm>
            <a:off x="205232" y="48945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3"/>
            </p:custDataLst>
          </p:nvPr>
        </p:nvSpPr>
        <p:spPr>
          <a:xfrm>
            <a:off x="205232" y="4894580"/>
            <a:ext cx="822960" cy="8503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4"/>
            </p:custDataLst>
          </p:nvPr>
        </p:nvSpPr>
        <p:spPr>
          <a:xfrm>
            <a:off x="205232" y="48945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05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>
            <p:custDataLst>
              <p:tags r:id="rId25"/>
            </p:custDataLst>
          </p:nvPr>
        </p:nvSpPr>
        <p:spPr>
          <a:xfrm>
            <a:off x="1119632" y="49585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ALPR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>
            <p:custDataLst>
              <p:tags r:id="rId26"/>
            </p:custDataLst>
          </p:nvPr>
        </p:nvSpPr>
        <p:spPr>
          <a:xfrm>
            <a:off x="1119632" y="53700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YOLO crop → EasyOCR → Regex chuẩn biển VN → Lưu DB + tra cứu lịch sử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356348" y="1807923"/>
            <a:ext cx="4800600" cy="2803241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overview_annotated.jp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88352" y="2307922"/>
            <a:ext cx="4736592" cy="273923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56602" y="5234226"/>
            <a:ext cx="473659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detection — 4 camera, real-time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Giao Diện Web — 6 Phân Hệ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13/17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032" y="914400"/>
            <a:ext cx="1167688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1">
                <a:solidFill>
                  <a:srgbClr val="44546A"/>
                </a:solidFill>
                <a:latin typeface="Calibri" panose="020F0502020204030204"/>
              </a:rPr>
              <a:t>Kiến trúc Frontend: Vanilla JavaScript SPA — HTML5 · Bootstrap 5 · ES6 Modules</a:t>
            </a:r>
            <a:endParaRPr sz="19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6032" y="1325880"/>
          <a:ext cx="7543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83480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Phân hệ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Chức năng chi tiết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Dashboard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KPIs real-time: tổng lượt chạy, số đối tượng, biểu đồ phân phối, system logs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Workspace (Inference)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Kéo-thả ảnh/video · Đồng bộ (ảnh &lt;500ms) · Bất đồng bộ job queue (video)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Live Streams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MJPEG stream · Song song: camera gốc + detection overlay + tốc độ + ùn tắc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Run History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Lịch sử phiên nhận diện · Tải ảnh/video annotated + metadata JSON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System Logs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Terminal view · Server-Sent Events (SSE) · Tìm kiếm, lọc theo log level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TOC / ALPR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Trung tâm điều hành · Nhận dạng &amp; tra cứu biển số · Heatmap · Export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50123" y="1849181"/>
            <a:ext cx="4389120" cy="2565277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881185"/>
            <a:ext cx="4325112" cy="25012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82127" y="4419030"/>
            <a:ext cx="432511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stream — 4 camera đồng thời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56032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Responsive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7472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Desktop 1920×1080
+ Tablet 1024×768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163824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63824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55264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Progressive
Disclosure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255264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Chi tiết kỹ thuật
ẩn mặc định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071616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71616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Error UX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63056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"File quá lớn.
Vui lòng chọn &lt; 500MB"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979408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9408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Feedback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0848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Loading spinner
Toast notification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Dashboard UI" descr="fig_dashboard_u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000" y="950000"/>
            <a:ext cx="5500000" cy="32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Quả Kiểm Thử Chức Năng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14/17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5852160"/>
                <a:gridCol w="2743200"/>
                <a:gridCol w="1911095"/>
              </a:tblGrid>
              <a:tr h="484632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ID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Kịch bản kiểm thử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Kết quả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Thời gian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ảnh JPEG 1920×1080, phát hiện đối tượng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480ms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ảnh &gt; 50MB (vượt giới hạn kích thước)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(Error 413)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video 30s 1080p, xử lý bất đồng bộ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(Job async)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Tạo: 200ms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TC-04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Polling job status khi đang xử lý (running)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(status + %)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45ms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Download video kết quả đã annotate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(Stream MP4)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Streaming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SAHI inference trên ảnh đông người đi bộ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2.1s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TC-07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API /api/health check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12ms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Gửi webhook khi mật độ SEVERE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~100ms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Concurrent 3 video jobs đồng thời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(Queue thứ tự)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5852160"/>
            <a:ext cx="11676888" cy="62179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5852160"/>
            <a:ext cx="64008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989320"/>
            <a:ext cx="113385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 i="0">
                <a:solidFill>
                  <a:srgbClr val="1B5E20"/>
                </a:solidFill>
                <a:latin typeface="Calibri" panose="020F0502020204030204"/>
              </a:rPr>
              <a:t>Tổng kết:  9/9 Functional Tests PASS   ·   Unit Tests (pytest): 31/31 PASS</a:t>
            </a:r>
            <a:endParaRPr sz="20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Quả Đạt Được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15/17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553212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5532120" cy="47548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78408"/>
            <a:ext cx="5349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Phần 1 — Nghiên Cứu Mô Hình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7472" y="1481328"/>
            <a:ext cx="5349240" cy="4434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Pipeline VisDrone → fisheye với 32-point bbox transform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Dataset kết hợp: 11.296 ảnh train · 406.355 nhãn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YOLOv11-N Cơ bản:   mAP@0.5 = 0.619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YOLOv11-N Nâng cao: mAP@0.5 = 0.862  (+39.3%)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SAHI: Pedestrian Recall 0.42 → 0.75  (+78.6%)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Chỉ 2.6M tham số — phù hợp edge deployment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3600" y="914400"/>
            <a:ext cx="5989320" cy="272491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914400"/>
            <a:ext cx="5989320" cy="47548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978408"/>
            <a:ext cx="5806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Phần 2 — Ứng Dụng Giám Sát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53328" y="1481328"/>
            <a:ext cx="58064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Flask Application Factory + Blueprint modular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Xử lý video bất đồng bộ — không timeout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5 module ITS: Speed · Congestion · Incident · LineCounter · ALPR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Dual DB, Cloud Storage (GCS), CI/CD → GCP (NVIDIA L4)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9/9 functional tests · 31/31 unit tests PASS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708457" y="3671316"/>
            <a:ext cx="4459605" cy="260604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61" y="3703320"/>
            <a:ext cx="4395597" cy="2542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0" y="6281928"/>
            <a:ext cx="598932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detection ban đêm — 4 camera, xe máy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Hạn Chế &amp; Hướng Phát Triển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16/17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8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933688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Hạn chế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Chi tiết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Recall Pedestrian thấp (CB)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Recall 0.42 ở phiên bản Cơ Bản — SAHI cải thiện lên 0.75 nhưng cần thêm dữ liệu đa dạng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Calibrate tốc độ thủ công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pixels_per_meter=8.0 đặt tay — cần quy trình camera calibration tự động từ điểm mốc thực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ROI tắc nghẽn cố định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User phải cấu hình ROI tay — kém linh hoạt khi camera dịch chuyển hoặc thay đổi góc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Dữ liệu chưa đặc thù VN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FishEye8K (Đài Loan) + VisDrone (Trung Quốc) — xe máy và phong cách lái VN khác biệt đáng kể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Chưa có edge deployment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Chạy server tập trung — chưa tối ưu cho Jetson Nano, Raspberry Pi (&lt; 25 FPS target)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3364992"/>
            <a:ext cx="11676888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3401568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Hướng Phát Triển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>
            <p:custDataLst>
              <p:tags r:id="rId2"/>
            </p:custDataLst>
          </p:nvPr>
        </p:nvSpPr>
        <p:spPr>
          <a:xfrm>
            <a:off x="256032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3"/>
            </p:custDataLst>
          </p:nvPr>
        </p:nvSpPr>
        <p:spPr>
          <a:xfrm>
            <a:off x="256032" y="3840480"/>
            <a:ext cx="2807208" cy="65836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347472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Thu thập
dữ liệu VN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347472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2–3 nút giao Hà Nội
~5.000 ảnh, 3 tháng
Motorbike + Pedestrian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>
            <p:custDataLst>
              <p:tags r:id="rId6"/>
            </p:custDataLst>
          </p:nvPr>
        </p:nvSpPr>
        <p:spPr>
          <a:xfrm>
            <a:off x="3163824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>
            <p:custDataLst>
              <p:tags r:id="rId7"/>
            </p:custDataLst>
          </p:nvPr>
        </p:nvSpPr>
        <p:spPr>
          <a:xfrm>
            <a:off x="3163824" y="3840480"/>
            <a:ext cx="2807208" cy="65836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3255264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Kiến trúc
mới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3255264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YOLOv12 · RT-DETR
Self-attention toàn cục
Xử lý distortion tốt hơn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>
            <p:custDataLst>
              <p:tags r:id="rId10"/>
            </p:custDataLst>
          </p:nvPr>
        </p:nvSpPr>
        <p:spPr>
          <a:xfrm>
            <a:off x="6071616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>
            <p:custDataLst>
              <p:tags r:id="rId11"/>
            </p:custDataLst>
          </p:nvPr>
        </p:nvSpPr>
        <p:spPr>
          <a:xfrm>
            <a:off x="6071616" y="3840480"/>
            <a:ext cx="2807208" cy="6583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12"/>
            </p:custDataLst>
          </p:nvPr>
        </p:nvSpPr>
        <p:spPr>
          <a:xfrm>
            <a:off x="6163056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Edge
computing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6163056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TensorRT/ONNX Runtime
Jetson Orin Nano
Mục tiêu ≥ 25 FPS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>
            <p:custDataLst>
              <p:tags r:id="rId14"/>
            </p:custDataLst>
          </p:nvPr>
        </p:nvSpPr>
        <p:spPr>
          <a:xfrm>
            <a:off x="8979408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5"/>
            </p:custDataLst>
          </p:nvPr>
        </p:nvSpPr>
        <p:spPr>
          <a:xfrm>
            <a:off x="8979408" y="3840480"/>
            <a:ext cx="2807208" cy="65836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6"/>
            </p:custDataLst>
          </p:nvPr>
        </p:nvSpPr>
        <p:spPr>
          <a:xfrm>
            <a:off x="9070848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Dashboard
cải tiến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>
            <p:custDataLst>
              <p:tags r:id="rId17"/>
            </p:custDataLst>
          </p:nvPr>
        </p:nvSpPr>
        <p:spPr>
          <a:xfrm>
            <a:off x="9070848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React.js + WebSocket
OpenLayers map real-time
Báo cáo PDF/Excel tự động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Luận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17/17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56032" y="914400"/>
            <a:ext cx="5532120" cy="5102352"/>
          </a:xfrm>
          <a:prstGeom prst="rect">
            <a:avLst/>
          </a:prstGeom>
          <a:solidFill>
            <a:srgbClr val="FFFFFF"/>
          </a:solidFill>
          <a:ln w="19050">
            <a:solidFill>
              <a:srgbClr val="2817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custDataLst>
              <p:tags r:id="rId3"/>
            </p:custDataLst>
          </p:nvPr>
        </p:nvSpPr>
        <p:spPr>
          <a:xfrm>
            <a:off x="256032" y="914400"/>
            <a:ext cx="5532120" cy="5029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347472" y="987552"/>
            <a:ext cx="534924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Về Nghiên Cứu Mô Hình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347345" y="1877060"/>
            <a:ext cx="5088890" cy="3819525"/>
          </a:xfrm>
          <a:prstGeom prst="rect">
            <a:avLst/>
          </a:prstGeom>
          <a:noFill/>
        </p:spPr>
        <p:txBody>
          <a:bodyPr wrap="square" lIns="45720" rIns="45720">
            <a:no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Pipeline 32-point bbox transform VisDrone → fisheye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Fine-tune YOLOv11-N:  mAP@0.5 = 0.862  (+39.3%)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SAHI: Recall người đi bộ  0.42 → 0.75  (+78.6%)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2.6M params, 6.5 GFLOPs — phù hợp edge deployment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>
            <p:custDataLst>
              <p:tags r:id="rId6"/>
            </p:custDataLst>
          </p:nvPr>
        </p:nvSpPr>
        <p:spPr>
          <a:xfrm>
            <a:off x="5943600" y="914400"/>
            <a:ext cx="5989320" cy="5102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7"/>
            </p:custDataLst>
          </p:nvPr>
        </p:nvSpPr>
        <p:spPr>
          <a:xfrm>
            <a:off x="5943600" y="914400"/>
            <a:ext cx="59893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053328" y="987552"/>
            <a:ext cx="580644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Về Ứng Dụng &amp; Thực Tiễn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053328" y="1536192"/>
            <a:ext cx="5806440" cy="2359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5 module ITS: Speed · Congestion · Incident · Line · ALPR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9/9 functional tests · 31/31 unit tests PASS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Xử lý ảnh &lt; 500ms — sẵn sàng production deployment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1 fisheye = 4 camera thường tại ngã tư đô thị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>
            <p:custDataLst>
              <p:tags r:id="rId10"/>
            </p:custDataLst>
          </p:nvPr>
        </p:nvSpPr>
        <p:spPr>
          <a:xfrm>
            <a:off x="7145020" y="3945636"/>
            <a:ext cx="3559048" cy="202996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mera_3_annotated.jp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7177024" y="3977640"/>
            <a:ext cx="349504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53328" y="5980176"/>
            <a:ext cx="57424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Hệ thống nhận diện thực tế — camera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56032" y="6080760"/>
            <a:ext cx="11676888" cy="5669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6199632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ED7D31"/>
                </a:solidFill>
                <a:latin typeface="Calibri" panose="020F0502020204030204"/>
              </a:rPr>
              <a:t>Đề tài góp phần xây dựng nền tảng ITS Việt Nam ứng dụng AI bản địa</a:t>
            </a:r>
            <a:endParaRPr sz="19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2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3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4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5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6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7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8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9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10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11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12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13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4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5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6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7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8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9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20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21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2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3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4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5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6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7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8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9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0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1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2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3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4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5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6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7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8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9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0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1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2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3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4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5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6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47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48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49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0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1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2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3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4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5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6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7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8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9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60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61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62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3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4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5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6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7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8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9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70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71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10207</Words>
  <Application>WPS Presentation</Application>
  <PresentationFormat>On-screen Show (4:3)</PresentationFormat>
  <Paragraphs>782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7" baseType="lpstr">
      <vt:lpstr>Arial</vt:lpstr>
      <vt:lpstr>SimSun</vt:lpstr>
      <vt:lpstr>Wingdings</vt:lpstr>
      <vt:lpstr>Arial</vt:lpstr>
      <vt:lpstr>Calibri</vt:lpstr>
      <vt:lpstr>Calibri Light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Nam Nguyễn</cp:lastModifiedBy>
  <cp:revision>6</cp:revision>
  <dcterms:created xsi:type="dcterms:W3CDTF">2013-01-27T09:14:00Z</dcterms:created>
  <dcterms:modified xsi:type="dcterms:W3CDTF">2026-06-17T22:43:11Z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8D2AC56395F14A3EAEAF29DCAE11972B_12</vt:lpwstr>
  </property>
  <property fmtid="{D5CDD505-2E9C-101B-9397-08002B2CF9AE}" pid="3" name="KSOProductBuildVer">
    <vt:lpwstr>2057-12.2.0.23202</vt:lpwstr>
  </property>
</Properties>
</file>