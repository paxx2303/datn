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64" r:id="rId3"/>
    <p:sldId id="262" r:id="rId5"/>
    <p:sldId id="265" r:id="rId6"/>
  </p:sldIdLst>
  <p:sldSz cx="9144000" cy="6858000" type="screen4x3"/>
  <p:notesSz cx="6736080" cy="986663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EBE7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6588"/>
    <p:restoredTop sz="91536"/>
  </p:normalViewPr>
  <p:slideViewPr>
    <p:cSldViewPr showGuides="1">
      <p:cViewPr varScale="1">
        <p:scale>
          <a:sx n="64" d="100"/>
          <a:sy n="64" d="100"/>
        </p:scale>
        <p:origin x="193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-38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t" anchorCtr="0" compatLnSpc="1"/>
          <a:lstStyle>
            <a:lvl1pPr>
              <a:defRPr sz="1200"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t" anchorCtr="0" compatLnSpc="1"/>
          <a:lstStyle>
            <a:lvl1pPr algn="r">
              <a:defRPr sz="1200"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FCBEA2-5DC0-4C08-8A29-B73CA0D8B225}" type="datetimeFigureOut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2600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b" anchorCtr="0" compatLnSpc="1"/>
          <a:lstStyle>
            <a:lvl1pPr>
              <a:defRPr sz="1200"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4763" y="9372600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b" anchorCtr="0" compatLnSpc="1"/>
          <a:p>
            <a:pPr lvl="0" algn="r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t" anchorCtr="0" compatLnSpc="1"/>
          <a:lstStyle>
            <a:lvl1pPr eaLnBrk="1" hangingPunct="1">
              <a:defRPr sz="1200"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t" anchorCtr="0" compatLnSpc="1"/>
          <a:lstStyle>
            <a:lvl1pPr algn="r" eaLnBrk="1" hangingPunct="1">
              <a:defRPr sz="1200"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92D93C-A476-49C4-9A97-BD9398B0FD22}" type="datetimeFigureOut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0" tIns="45376" rIns="90750" bIns="45376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0750" tIns="45376" rIns="90750" bIns="45376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b" anchorCtr="0" compatLnSpc="1"/>
          <a:lstStyle>
            <a:lvl1pPr eaLnBrk="1" hangingPunct="1">
              <a:defRPr sz="1200"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0750" tIns="45376" rIns="90750" bIns="45376" anchor="t" anchorCtr="0"/>
          <a:p>
            <a:pPr lvl="0"/>
            <a:r>
              <a:rPr lang="en-US" altLang="en-US" dirty="0"/>
              <a:t>Thanks for attention</a:t>
            </a:r>
            <a:endParaRPr lang="en-GB" altLang="en-US" dirty="0"/>
          </a:p>
        </p:txBody>
      </p:sp>
      <p:sp>
        <p:nvSpPr>
          <p:cNvPr id="614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</a:ln>
        </p:spPr>
        <p:txBody>
          <a:bodyPr lIns="90750" tIns="45376" rIns="90750" bIns="45376"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0750" tIns="45376" rIns="90750" bIns="45376" anchor="t" anchorCtr="0"/>
          <a:p>
            <a:pPr lvl="0"/>
            <a:r>
              <a:rPr lang="en-US" altLang="en-US" dirty="0"/>
              <a:t>Thanks for attention</a:t>
            </a:r>
            <a:endParaRPr lang="en-GB" altLang="en-US" dirty="0"/>
          </a:p>
        </p:txBody>
      </p:sp>
      <p:sp>
        <p:nvSpPr>
          <p:cNvPr id="81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</a:ln>
        </p:spPr>
        <p:txBody>
          <a:bodyPr lIns="90750" tIns="45376" rIns="90750" bIns="45376"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E105D-F0DD-4FD0-9744-54C554D936AF}" type="datetime1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990600"/>
          </a:xfrm>
        </p:spPr>
        <p:txBody>
          <a:bodyPr/>
          <a:lstStyle>
            <a:lvl1pPr algn="l">
              <a:defRPr sz="300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3105"/>
            <a:ext cx="8229600" cy="46783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 sz="2600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E105D-F0DD-4FD0-9744-54C554D936AF}" type="datetime1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5"/>
          <p:cNvPicPr>
            <a:picLocks noChangeAspect="1"/>
          </p:cNvPicPr>
          <p:nvPr userDrawn="1"/>
        </p:nvPicPr>
        <p:blipFill>
          <a:blip r:embed="rId3"/>
          <a:srcRect t="8081" b="8862"/>
          <a:stretch>
            <a:fillRect/>
          </a:stretch>
        </p:blipFill>
        <p:spPr>
          <a:xfrm>
            <a:off x="0" y="1131888"/>
            <a:ext cx="9144000" cy="53705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7400"/>
            <a:ext cx="9144000" cy="2057400"/>
          </a:xfrm>
        </p:spPr>
        <p:txBody>
          <a:bodyPr anchor="t"/>
          <a:lstStyle>
            <a:lvl1pPr algn="ctr">
              <a:defRPr sz="4000" b="1" cap="all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"/>
            <a:ext cx="7239000" cy="990600"/>
          </a:xfrm>
        </p:spPr>
        <p:txBody>
          <a:bodyPr anchor="ctr"/>
          <a:lstStyle>
            <a:lvl1pPr marL="0" indent="0">
              <a:buNone/>
              <a:defRPr sz="300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331BBB-6AF1-4F4E-82BA-DA979C24C313}" type="datetime1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E105D-F0DD-4FD0-9744-54C554D936AF}" type="datetime1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E105D-F0DD-4FD0-9744-54C554D936AF}" type="datetime1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E105D-F0DD-4FD0-9744-54C554D936AF}" type="datetime1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E105D-F0DD-4FD0-9744-54C554D936AF}" type="datetime1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E105D-F0DD-4FD0-9744-54C554D936AF}" type="datetime1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E105D-F0DD-4FD0-9744-54C554D936AF}" type="datetime1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E105D-F0DD-4FD0-9744-54C554D936AF}" type="datetime1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E105D-F0DD-4FD0-9744-54C554D936AF}" type="datetime1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E105D-F0DD-4FD0-9744-54C554D936AF}" type="datetime1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>
                <a:solidFill>
                  <a:srgbClr val="0000FF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ts val="100"/>
        </a:spcBef>
        <a:spcAft>
          <a:spcPts val="200"/>
        </a:spcAft>
        <a:buFont typeface="Arial" panose="020B0604020202020204" pitchFamily="34" charset="0"/>
        <a:buChar char="•"/>
        <a:defRPr sz="2800" b="1" kern="1200">
          <a:solidFill>
            <a:srgbClr val="00206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ts val="300"/>
        </a:spcBef>
        <a:spcAft>
          <a:spcPts val="300"/>
        </a:spcAft>
        <a:buFont typeface="Arial" panose="020B0604020202020204" pitchFamily="34" charset="0"/>
        <a:buChar char="–"/>
        <a:defRPr sz="2400" kern="1200">
          <a:solidFill>
            <a:srgbClr val="00206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ts val="300"/>
        </a:spcBef>
        <a:spcAft>
          <a:spcPts val="300"/>
        </a:spcAft>
        <a:buFont typeface="Arial" panose="020B0604020202020204" pitchFamily="34" charset="0"/>
        <a:buChar char="–"/>
        <a:defRPr sz="2000" kern="1200">
          <a:solidFill>
            <a:srgbClr val="00206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ts val="300"/>
        </a:spcBef>
        <a:spcAft>
          <a:spcPts val="300"/>
        </a:spcAft>
        <a:buFont typeface="Arial" panose="020B0604020202020204" pitchFamily="34" charset="0"/>
        <a:buChar char="»"/>
        <a:defRPr sz="2000" kern="1200">
          <a:solidFill>
            <a:srgbClr val="00206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extBox 4"/>
          <p:cNvSpPr txBox="1"/>
          <p:nvPr/>
        </p:nvSpPr>
        <p:spPr>
          <a:xfrm>
            <a:off x="-177800" y="276225"/>
            <a:ext cx="9144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</a:t>
            </a: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171" name="TextBox 4"/>
          <p:cNvSpPr txBox="1"/>
          <p:nvPr/>
        </p:nvSpPr>
        <p:spPr>
          <a:xfrm>
            <a:off x="0" y="3149600"/>
            <a:ext cx="9164638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 cần thiết của đề t</a:t>
            </a:r>
            <a:r>
              <a:rPr lang="en-US" altLang="en-US" sz="18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i:</a:t>
            </a:r>
            <a:endParaRPr lang="en-US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172" name="TextBox 4"/>
          <p:cNvSpPr txBox="1"/>
          <p:nvPr/>
        </p:nvSpPr>
        <p:spPr>
          <a:xfrm>
            <a:off x="49213" y="4491038"/>
            <a:ext cx="91440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Nội dung nghiên cứu</a:t>
            </a:r>
            <a:endParaRPr lang="en-US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 nghiệm chỉ tiêu cơ lý của đất trộn bentnite (độ ẩm, đầm chặt, hệ số thấm</a:t>
            </a: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Nghiên cứu h</a:t>
            </a: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lượng bentonite tối ưu khi trộn với đất nhằm đảm bảo chống thấm</a:t>
            </a:r>
            <a:endParaRPr lang="en-US" altLang="en-US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173" name="TextBox 4"/>
          <p:cNvSpPr txBox="1"/>
          <p:nvPr/>
        </p:nvSpPr>
        <p:spPr>
          <a:xfrm>
            <a:off x="65088" y="5343525"/>
            <a:ext cx="9144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Kết quả nghiên cứu: </a:t>
            </a:r>
            <a:endParaRPr lang="en-US" altLang="en-US" sz="180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174" name="Chỗ dành sẵn cho Nội dung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738" y="1085850"/>
            <a:ext cx="2503487" cy="1811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5" name="Rectangle 9"/>
          <p:cNvSpPr/>
          <p:nvPr/>
        </p:nvSpPr>
        <p:spPr>
          <a:xfrm>
            <a:off x="109538" y="2884488"/>
            <a:ext cx="3076575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vi-VN" sz="16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Bãi chôn lấp rác thải Xuân Sơn</a:t>
            </a:r>
            <a:endParaRPr lang="en-US" altLang="vi-VN" sz="1600" b="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176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538" y="1084263"/>
            <a:ext cx="1976437" cy="183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7" name="Rectangle 11"/>
          <p:cNvSpPr/>
          <p:nvPr/>
        </p:nvSpPr>
        <p:spPr>
          <a:xfrm>
            <a:off x="2957513" y="2913063"/>
            <a:ext cx="2873375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vi-VN" sz="16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 thấm cho đất trộn bentonite </a:t>
            </a:r>
            <a:endParaRPr lang="en-US" altLang="vi-VN" sz="1600" b="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178" name="Picture 2" descr="12968684_817584381686568_488824921_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288" y="1065213"/>
            <a:ext cx="2819400" cy="1920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9" name="Rectangle 13"/>
          <p:cNvSpPr/>
          <p:nvPr/>
        </p:nvSpPr>
        <p:spPr>
          <a:xfrm>
            <a:off x="5741988" y="2927350"/>
            <a:ext cx="3532187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vi-VN" sz="16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TN thấm cho đất trộn bentonite </a:t>
            </a:r>
            <a:endParaRPr lang="en-US" altLang="vi-VN" sz="1600" b="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1000" y="3731373"/>
            <a:ext cx="1565694" cy="802527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</a:lstStyle>
          <a:p>
            <a:pPr lvl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17/91 bãi chôn lấp rác thải l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hợp vệ sinh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7183" name="TextBox 16"/>
          <p:cNvSpPr txBox="1"/>
          <p:nvPr/>
        </p:nvSpPr>
        <p:spPr>
          <a:xfrm>
            <a:off x="515938" y="3394075"/>
            <a:ext cx="1295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trạng</a:t>
            </a:r>
            <a:endParaRPr lang="en-US" altLang="en-US" sz="1800" b="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1981200" y="4111625"/>
            <a:ext cx="381000" cy="1905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62200" y="3731373"/>
            <a:ext cx="1910556" cy="802527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</a:lstStyle>
          <a:p>
            <a:pPr lvl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 đảm bảo vệ sinh, l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ô nhiễm môi trường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7188" name="TextBox 19"/>
          <p:cNvSpPr txBox="1"/>
          <p:nvPr/>
        </p:nvSpPr>
        <p:spPr>
          <a:xfrm>
            <a:off x="2670175" y="3390900"/>
            <a:ext cx="1295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Hậu quả</a:t>
            </a:r>
            <a:endParaRPr lang="en-US" altLang="en-US" sz="1800" b="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189" name="TextBox 21"/>
          <p:cNvSpPr txBox="1"/>
          <p:nvPr/>
        </p:nvSpPr>
        <p:spPr>
          <a:xfrm>
            <a:off x="4572000" y="3402013"/>
            <a:ext cx="2209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nghiên cứu</a:t>
            </a:r>
            <a:endParaRPr lang="en-US" altLang="en-US" sz="1800" b="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724400" y="3731373"/>
            <a:ext cx="1905000" cy="802527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</a:lstStyle>
          <a:p>
            <a:pPr lvl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đất trộn bentonite l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lớp lót bãi rác thải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010400" y="3735520"/>
            <a:ext cx="1981200" cy="79838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</a:lstStyle>
          <a:p>
            <a:pPr lvl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Giảm hệ số thấm của đất, giảm ô nhiễm môi trường 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196" name="TextBox 25"/>
          <p:cNvSpPr txBox="1"/>
          <p:nvPr/>
        </p:nvSpPr>
        <p:spPr>
          <a:xfrm>
            <a:off x="6896100" y="3398838"/>
            <a:ext cx="2209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</a:t>
            </a:r>
            <a:endParaRPr lang="en-US" altLang="en-US" sz="1800" b="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4308475" y="4127500"/>
            <a:ext cx="381000" cy="1905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6629400" y="4111625"/>
            <a:ext cx="381000" cy="1905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91706" y="5689330"/>
            <a:ext cx="1565694" cy="554966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</a:lstStyle>
          <a:p>
            <a:pPr lvl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Loại đất: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Cát pha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844506" y="5689330"/>
            <a:ext cx="1794294" cy="554966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</a:lstStyle>
          <a:p>
            <a:pPr lvl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số thấm: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k&lt;3.014x10</a:t>
            </a:r>
            <a:r>
              <a:rPr lang="en-US" altLang="en-US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-9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m/s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05600" y="5689330"/>
            <a:ext cx="2209800" cy="5334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</a:lstStyle>
          <a:p>
            <a:pPr lvl="0" algn="ctr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Đảm bảo chống thấm cho bãi rác thải. 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2" name="Right Arrow 31"/>
          <p:cNvSpPr>
            <a:spLocks noChangeArrowheads="1"/>
          </p:cNvSpPr>
          <p:nvPr/>
        </p:nvSpPr>
        <p:spPr bwMode="auto">
          <a:xfrm>
            <a:off x="2095500" y="5745163"/>
            <a:ext cx="1714500" cy="40005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9525">
            <a:solidFill>
              <a:srgbClr val="98B954"/>
            </a:solidFill>
            <a:miter lim="800000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vi-V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10-15% bentonite</a:t>
            </a:r>
            <a:endParaRPr kumimoji="0" lang="en-US" altLang="en-US" sz="15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5638800" y="5965825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10" name="TextBox 33"/>
          <p:cNvSpPr txBox="1"/>
          <p:nvPr/>
        </p:nvSpPr>
        <p:spPr>
          <a:xfrm>
            <a:off x="5638800" y="5670550"/>
            <a:ext cx="1600200" cy="322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5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 chuẩn</a:t>
            </a:r>
            <a:endParaRPr lang="en-US" altLang="en-US" sz="1500" b="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211" name="TextBox 34"/>
          <p:cNvSpPr txBox="1"/>
          <p:nvPr/>
        </p:nvSpPr>
        <p:spPr>
          <a:xfrm>
            <a:off x="5678488" y="6059488"/>
            <a:ext cx="1255712" cy="569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5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&lt;10</a:t>
            </a:r>
            <a:r>
              <a:rPr lang="en-US" altLang="en-US" sz="1500" b="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-9 </a:t>
            </a:r>
            <a:r>
              <a:rPr lang="en-US" altLang="en-US" sz="15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m/s</a:t>
            </a:r>
            <a:endParaRPr lang="en-US" altLang="en-US" sz="1500" b="0" dirty="0">
              <a:solidFill>
                <a:srgbClr val="0000FF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500" b="0" dirty="0">
              <a:solidFill>
                <a:srgbClr val="0000FF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7212" name="TextBox 4"/>
          <p:cNvSpPr txBox="1"/>
          <p:nvPr/>
        </p:nvSpPr>
        <p:spPr>
          <a:xfrm>
            <a:off x="109538" y="6178550"/>
            <a:ext cx="9144000" cy="554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Nhận xét</a:t>
            </a:r>
            <a:endParaRPr lang="en-US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“Đề t</a:t>
            </a:r>
            <a:r>
              <a:rPr lang="en-US" altLang="en-US" sz="1200" b="0" i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altLang="en-US" sz="1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 đất trộn bentonite có tính thực tiễn, có thể áp dụng cho các bãi chôn lấp bãi rác thải, chi phí rẻ”  - nhận xét của GV phản biện đề t</a:t>
            </a:r>
            <a:r>
              <a:rPr lang="en-US" altLang="en-US" sz="1200" b="0" i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altLang="en-US" sz="1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en-US" sz="1600" b="0" i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834</Words>
  <Application>WPS Presentation</Application>
  <PresentationFormat>On-screen Show (4:3)</PresentationFormat>
  <Paragraphs>52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Calibri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Pham Duy Anh</dc:creator>
  <cp:lastModifiedBy>Nam Nguyễn</cp:lastModifiedBy>
  <cp:revision>426</cp:revision>
  <cp:lastPrinted>2018-04-03T01:30:05Z</cp:lastPrinted>
  <dcterms:created xsi:type="dcterms:W3CDTF">2017-10-17T01:43:35Z</dcterms:created>
  <dcterms:modified xsi:type="dcterms:W3CDTF">2026-05-06T23:44:02Z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24F6FD1D5FF2489DA40F50CA65116C5F_12</vt:lpwstr>
  </property>
  <property fmtid="{D5CDD505-2E9C-101B-9397-08002B2CF9AE}" pid="3" name="KSOProductBuildVer">
    <vt:lpwstr>2057-12.2.0.23202</vt:lpwstr>
  </property>
</Properties>
</file>