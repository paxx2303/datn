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71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17320"/>
            <a:ext cx="8229600" cy="2926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09728" cy="2926080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7955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A41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OF TRANSPORT AND COMMUNICATION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121408"/>
            <a:ext cx="6400800" cy="0"/>
          </a:xfrm>
          <a:prstGeom prst="line">
            <a:avLst/>
          </a:prstGeom>
          <a:noFill/>
          <a:ln w="19050">
            <a:solidFill>
              <a:srgbClr val="C8A4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12848"/>
            <a:ext cx="7955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Detection on FishEye8K Camera Images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YOLO11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71600" y="3364992"/>
            <a:ext cx="6400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Dr. Nguyen Duc Du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</a:t>
            </a:r>
            <a:endParaRPr lang="en-US" sz="1100" dirty="0"/>
          </a:p>
        </p:txBody>
      </p:sp>
      <p:sp>
        <p:nvSpPr>
          <p:cNvPr id="11" name="Text Box 10"/>
          <p:cNvSpPr txBox="1"/>
          <p:nvPr/>
        </p:nvSpPr>
        <p:spPr>
          <a:xfrm>
            <a:off x="195580" y="220345"/>
            <a:ext cx="7393940" cy="593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ctr">
              <a:buNone/>
            </a:pPr>
            <a:r>
              <a:rPr lang="en-US" sz="2500" b="1" dirty="0">
                <a:solidFill>
                  <a:srgbClr val="C8A41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UNIVERSITY OF TRANSPORT AND COMMUNICATIONS</a:t>
            </a:r>
            <a:endParaRPr lang="en-GB" altLang="en-US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38912" cy="438912"/>
          </a:xfrm>
          <a:prstGeom prst="ellipse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89888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26464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City Challenge 2024 &amp; FishEye8K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438912" cy="438912"/>
          </a:xfrm>
          <a:prstGeom prst="ellipse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48256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08483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Research — Problem Introduction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88336"/>
            <a:ext cx="438912" cy="438912"/>
          </a:xfrm>
          <a:prstGeom prst="ellipse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06624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(FishEye8K + VisDrone)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346704"/>
            <a:ext cx="438912" cy="438912"/>
          </a:xfrm>
          <a:prstGeom prst="ellipse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364992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401568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YOLO11 Model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438912" cy="438912"/>
          </a:xfrm>
          <a:prstGeom prst="ellipse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023360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059936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Pipeline &amp; Preprocessing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38912" cy="438912"/>
          </a:xfrm>
          <a:prstGeom prst="ellipse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389888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1426464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 (2-Stage)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029968"/>
            <a:ext cx="438912" cy="438912"/>
          </a:xfrm>
          <a:prstGeom prst="ellipse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048256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208483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 Results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688336"/>
            <a:ext cx="438912" cy="438912"/>
          </a:xfrm>
          <a:prstGeom prst="ellipse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706624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2743200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 with Competition Winners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346704"/>
            <a:ext cx="438912" cy="438912"/>
          </a:xfrm>
          <a:prstGeom prst="ellipse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364992"/>
            <a:ext cx="43891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3401568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Directions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1: AI City Challenge 2024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City Challenge 2024 —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4160520" cy="3383280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99032"/>
            <a:ext cx="4069080" cy="34747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the Competition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Organizers: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82880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NVIDIA + IEEE @ CVPR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Focus: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228600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AI for Intelligent Transportation Systems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Track 4: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74320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Road Object Detection in Fish-Eye Cameras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2004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Teams: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20040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50+ teams worldwide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Dataset: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365760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FishEye8K — by HCMIU-VisionLab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1148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Metric: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411480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F1-score (Precision × Recall harmonic mean)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353312"/>
            <a:ext cx="42062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399032"/>
            <a:ext cx="4114800" cy="34747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3 Competition Results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847088"/>
            <a:ext cx="4023360" cy="749808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847088"/>
            <a:ext cx="73152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89280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🥇 1st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219456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VNPT AI (Team 9)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029968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869"/>
                </a:solidFill>
              </a:rPr>
              <a:t>F1: 0.6406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2761488"/>
            <a:ext cx="4023360" cy="749808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761488"/>
            <a:ext cx="73152" cy="749808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80720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🥈 2nd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310896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Nota/NetsPresso (Team 40)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944368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869"/>
                </a:solidFill>
              </a:rPr>
              <a:t>F1: 0.6196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9160" y="3675888"/>
            <a:ext cx="4023360" cy="749808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675888"/>
            <a:ext cx="73152" cy="749808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72160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🥉 3rd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28032" y="402336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SKKU-AutoLab (Team 5)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858768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869"/>
                </a:solidFill>
              </a:rPr>
              <a:t>F1: 0.6194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1: AI City Challenge 2024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4 — FishEye8K Dataset &amp; Techniques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5331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FishEye8K Dataset Stats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274320" y="1664208"/>
          <a:ext cx="4114800" cy="1755648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Images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8,000 (5,288 train + 2,712 test)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Annotations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~157,000 bounding boxes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Fisheye Cameras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 cameras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Object Classes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5: Bus, Bike, Car, Pedestrian, Truck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Annotation Format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COCO JSON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17720" y="13533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Techniques of Top Teams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17720" y="1664208"/>
            <a:ext cx="4160520" cy="402336"/>
          </a:xfrm>
          <a:prstGeom prst="rect">
            <a:avLst/>
          </a:prstGeom>
          <a:solidFill>
            <a:srgbClr val="F4F0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81728" y="170078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Model Ensemble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1700784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WBF fusion of YOLO + Transformer models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17720" y="2139696"/>
            <a:ext cx="41605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1728" y="217627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Strong Augmentation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2176272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Barrel distortion, mosaic, mixup, copy-paste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17720" y="2615184"/>
            <a:ext cx="4160520" cy="402336"/>
          </a:xfrm>
          <a:prstGeom prst="rect">
            <a:avLst/>
          </a:prstGeom>
          <a:solidFill>
            <a:srgbClr val="F4F0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81728" y="2651760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Pseudo-labeling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2651760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Generate labels for unannotated data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17720" y="3090672"/>
            <a:ext cx="41605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81728" y="312724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Extra Datasets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63640" y="3127248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VisDrone, MIO-TCD, UAV datasets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17720" y="3566160"/>
            <a:ext cx="4160520" cy="402336"/>
          </a:xfrm>
          <a:prstGeom prst="rect">
            <a:avLst/>
          </a:prstGeom>
          <a:solidFill>
            <a:srgbClr val="F4F0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81728" y="3602736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SAHI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360273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Slicing for small object detection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17720" y="4041648"/>
            <a:ext cx="41605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1728" y="407822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Multi-scale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63640" y="4078224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Train/test at multiple resolutions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2: Our Research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Research — Motivation &amp; Objectives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Research Context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73352"/>
            <a:ext cx="4114800" cy="2514600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3931920" cy="2377440"/>
          </a:xfrm>
          <a:prstGeom prst="rect">
            <a:avLst/>
          </a:prstGeom>
          <a:noFill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Inspired by: </a:t>
            </a: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City Challenge 2024 Track 4
</a:t>
            </a: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Model: </a:t>
            </a: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YOLO11l (Ultralytics, Sep 2024)
</a:t>
            </a: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Approach: </a:t>
            </a: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Single-model pipeline (vs ensemble)
</a:t>
            </a: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</a:t>
            </a: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FishEye8K + VisDrone combined
</a:t>
            </a:r>
            <a:r>
              <a:rPr lang="en-US" sz="11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</a:t>
            </a:r>
            <a:r>
              <a:rPr lang="en-US" sz="1100" i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 a strong baseline for fisheye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17720" y="13716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Key Challenges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673352"/>
            <a:ext cx="4160520" cy="438912"/>
          </a:xfrm>
          <a:prstGeom prst="rect">
            <a:avLst/>
          </a:prstGeom>
          <a:solidFill>
            <a:srgbClr val="FFF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673352"/>
            <a:ext cx="73152" cy="438912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0992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Barrel Distortion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90195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Edge objects severely deformed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17627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176272"/>
            <a:ext cx="73152" cy="438912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21284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Multi-scale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40487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Extreme size variation center→edge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679192"/>
            <a:ext cx="4160520" cy="438912"/>
          </a:xfrm>
          <a:prstGeom prst="rect">
            <a:avLst/>
          </a:prstGeom>
          <a:solidFill>
            <a:srgbClr val="FFF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679192"/>
            <a:ext cx="73152" cy="438912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71576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Limited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90779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Only ~5,288 training images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18211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3182112"/>
            <a:ext cx="73152" cy="438912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1868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Class Imbalance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41071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Car ~90% vs few Bus/Pedestrian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685032"/>
            <a:ext cx="4160520" cy="438912"/>
          </a:xfrm>
          <a:prstGeom prst="rect">
            <a:avLst/>
          </a:prstGeom>
          <a:solidFill>
            <a:srgbClr val="FFF8E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685032"/>
            <a:ext cx="73152" cy="438912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72160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1869"/>
                </a:solidFill>
              </a:rPr>
              <a:t>Domain Gap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913632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FishEye8K vs converted VisDrone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3: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Datasets — FishEye8K &amp; VisDrone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73152" cy="2103120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869"/>
                </a:solidFill>
              </a:rPr>
              <a:t>FishEye8K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11480" y="1682496"/>
          <a:ext cx="3931920" cy="1608455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73736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Split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Images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Train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5,288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112,213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2,712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Cameras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Car/Bus/Truck/Pedestrian/Motorbike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0" y="1353312"/>
            <a:ext cx="73152" cy="21031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1371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869"/>
                </a:solidFill>
              </a:rPr>
              <a:t>VisDrone (Supplementary)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4709160" y="1682496"/>
          <a:ext cx="4069080" cy="146304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50876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Subset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Images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train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6,471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343,205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548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38,759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test-dev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1,610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75,102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8,629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457,066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274320" y="3547872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Class Mapping: VisDrone → FishEye8K</a:t>
            </a:r>
            <a:endParaRPr lang="en-US" sz="12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/>
        </p:nvGraphicFramePr>
        <p:xfrm>
          <a:off x="274320" y="3858768"/>
          <a:ext cx="8595360" cy="1755648"/>
        </p:xfrm>
        <a:graphic>
          <a:graphicData uri="http://schemas.openxmlformats.org/drawingml/2006/table">
            <a:tbl>
              <a:tblPr/>
              <a:tblGrid>
                <a:gridCol w="3840480"/>
                <a:gridCol w="548640"/>
                <a:gridCol w="420624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VisDrone Classes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FishEye8K Class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pedestrian, people (1,2)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Pedestrian (3)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bicycle, tricycle, motor (3,7,8,10)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Motorbike (4)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car, van (4,5)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 (0)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truck (6)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Truck (2)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bus (9)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→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Bus (1)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4: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YOLO11 — Architecture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YOLO11l Specifications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274320" y="1682496"/>
          <a:ext cx="4114800" cy="2311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Version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YOLO11l (Large)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Pretrained 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COCO (80 classes)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Fine-tuned Classes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 (FishEye8K)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Layers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25.3M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GFLOPs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87.3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File Size (fused)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~51.2 MB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17720" y="13716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Key Improvements over YOLOv8</a:t>
            </a:r>
            <a:endParaRPr lang="en-US" sz="1200" dirty="0"/>
          </a:p>
        </p:txBody>
      </p:sp>
      <p:sp>
        <p:nvSpPr>
          <p:cNvPr id="6" name="Shape 5"/>
          <p:cNvSpPr/>
          <p:nvPr>
            <p:custDataLst>
              <p:tags r:id="rId2"/>
            </p:custDataLst>
          </p:nvPr>
        </p:nvSpPr>
        <p:spPr>
          <a:xfrm>
            <a:off x="4617720" y="1682496"/>
            <a:ext cx="4160520" cy="749808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4681728" y="1819656"/>
            <a:ext cx="475488" cy="475488"/>
          </a:xfrm>
          <a:prstGeom prst="ellipse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4681728" y="1837944"/>
            <a:ext cx="47548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C3k2</a:t>
            </a:r>
            <a:endParaRPr lang="en-US" sz="900" dirty="0"/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5230368" y="175564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Replaces C2f</a:t>
            </a:r>
            <a:endParaRPr lang="en-US" sz="1000" dirty="0"/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5230368" y="202996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Higher efficiency, faster inference</a:t>
            </a:r>
            <a:endParaRPr lang="en-US" sz="1000" dirty="0"/>
          </a:p>
        </p:txBody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4617720" y="2523744"/>
            <a:ext cx="4160520" cy="74980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1"/>
          <p:cNvSpPr/>
          <p:nvPr>
            <p:custDataLst>
              <p:tags r:id="rId8"/>
            </p:custDataLst>
          </p:nvPr>
        </p:nvSpPr>
        <p:spPr>
          <a:xfrm>
            <a:off x="4681728" y="2660904"/>
            <a:ext cx="475488" cy="475488"/>
          </a:xfrm>
          <a:prstGeom prst="ellipse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4681728" y="2679192"/>
            <a:ext cx="47548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C2PSA</a:t>
            </a:r>
            <a:endParaRPr lang="en-US" sz="900" dirty="0"/>
          </a:p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5230368" y="2596896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New module</a:t>
            </a:r>
            <a:endParaRPr lang="en-US" sz="1000" dirty="0"/>
          </a:p>
        </p:txBody>
      </p:sp>
      <p:sp>
        <p:nvSpPr>
          <p:cNvPr id="17" name="Text 14"/>
          <p:cNvSpPr/>
          <p:nvPr>
            <p:custDataLst>
              <p:tags r:id="rId11"/>
            </p:custDataLst>
          </p:nvPr>
        </p:nvSpPr>
        <p:spPr>
          <a:xfrm>
            <a:off x="5230368" y="287121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Spatial attention — better small objects</a:t>
            </a:r>
            <a:endParaRPr lang="en-US" sz="1000" dirty="0"/>
          </a:p>
        </p:txBody>
      </p:sp>
      <p:sp>
        <p:nvSpPr>
          <p:cNvPr id="18" name="Shape 15"/>
          <p:cNvSpPr/>
          <p:nvPr>
            <p:custDataLst>
              <p:tags r:id="rId12"/>
            </p:custDataLst>
          </p:nvPr>
        </p:nvSpPr>
        <p:spPr>
          <a:xfrm>
            <a:off x="4617720" y="3364992"/>
            <a:ext cx="4160520" cy="749808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6"/>
          <p:cNvSpPr/>
          <p:nvPr>
            <p:custDataLst>
              <p:tags r:id="rId13"/>
            </p:custDataLst>
          </p:nvPr>
        </p:nvSpPr>
        <p:spPr>
          <a:xfrm>
            <a:off x="4681728" y="3502152"/>
            <a:ext cx="475488" cy="475488"/>
          </a:xfrm>
          <a:prstGeom prst="ellipse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4"/>
            </p:custDataLst>
          </p:nvPr>
        </p:nvSpPr>
        <p:spPr>
          <a:xfrm>
            <a:off x="4681728" y="3520440"/>
            <a:ext cx="47548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SPPF</a:t>
            </a:r>
            <a:endParaRPr lang="en-US" sz="900" dirty="0"/>
          </a:p>
        </p:txBody>
      </p:sp>
      <p:sp>
        <p:nvSpPr>
          <p:cNvPr id="21" name="Text 18"/>
          <p:cNvSpPr/>
          <p:nvPr>
            <p:custDataLst>
              <p:tags r:id="rId15"/>
            </p:custDataLst>
          </p:nvPr>
        </p:nvSpPr>
        <p:spPr>
          <a:xfrm>
            <a:off x="5230368" y="343814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Enhanced</a:t>
            </a:r>
            <a:endParaRPr lang="en-US" sz="1000" dirty="0"/>
          </a:p>
        </p:txBody>
      </p:sp>
      <p:sp>
        <p:nvSpPr>
          <p:cNvPr id="22" name="Text 19"/>
          <p:cNvSpPr/>
          <p:nvPr>
            <p:custDataLst>
              <p:tags r:id="rId16"/>
            </p:custDataLst>
          </p:nvPr>
        </p:nvSpPr>
        <p:spPr>
          <a:xfrm>
            <a:off x="5230368" y="371246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Expanded receptive field at deep layers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4279138"/>
            <a:ext cx="8595360" cy="502920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" y="4251960"/>
            <a:ext cx="2011680" cy="4023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4251960"/>
            <a:ext cx="2011680" cy="402336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BACKBONE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Layers 0-10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350008" y="4261104"/>
            <a:ext cx="274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642616" y="4251960"/>
            <a:ext cx="2011680" cy="4023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42616" y="4251960"/>
            <a:ext cx="2011680" cy="402336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NECK (FPN)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Layers 11-22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72584" y="4261104"/>
            <a:ext cx="274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965192" y="4251960"/>
            <a:ext cx="1371600" cy="4023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65192" y="4251960"/>
            <a:ext cx="1371600" cy="402336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23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355080" y="4261104"/>
            <a:ext cx="274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647688" y="4251960"/>
            <a:ext cx="2103120" cy="402336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47688" y="4251960"/>
            <a:ext cx="2103120" cy="402336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 Classes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4: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Multi-scale Detection — Fisheye Context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74320" y="1371600"/>
          <a:ext cx="8595360" cy="1755648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92608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Fisheye Characteristic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YOLO11 Solution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Benefit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Small objects at edges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(distant pedestrians)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P3 (80×80) high resolution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Detects distorted edge objects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 objects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(Car, Motorbike)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P4 (40×40) balanced scale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Accurate detection of common objects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Large objects near center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(Bus, Truck)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P5 (20×20) large receptive field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Captures full large objects + context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Barrel distortion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C2PSA spatial attention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Focus on important regions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Extreme scale variation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FPN combining 3 scales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Handles very small to very large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31920"/>
            <a:ext cx="265176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95935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80×80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32511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Small Objects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Pedestrian · Motorbike</a:t>
            </a:r>
            <a:endParaRPr lang="en-US" sz="900" dirty="0"/>
          </a:p>
        </p:txBody>
      </p:sp>
      <p:sp>
        <p:nvSpPr>
          <p:cNvPr id="5" name="Shape 6"/>
          <p:cNvSpPr/>
          <p:nvPr/>
        </p:nvSpPr>
        <p:spPr>
          <a:xfrm>
            <a:off x="3337560" y="3931920"/>
            <a:ext cx="2651760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37560" y="395935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40×40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432511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Medium Objects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Car · Motorbike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17920" y="3931920"/>
            <a:ext cx="265176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395935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20×20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0" y="432511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Large Objects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Bus · Truck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4: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Multi-scale Detection — Fisheye Context</a:t>
            </a:r>
            <a:endParaRPr lang="en-US" sz="20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7055"/>
            <a:ext cx="9143365" cy="22593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5: Data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Pipeline — 5-Phase Processing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600200" cy="1417320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44475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53896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1869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965960"/>
            <a:ext cx="1600200" cy="512064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EDA + 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 Export Labels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487168"/>
            <a:ext cx="1600200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FishEye8K → YOLO format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1554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55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84248" y="1371600"/>
            <a:ext cx="1600200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144475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1453896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84248" y="1965960"/>
            <a:ext cx="1600200" cy="512064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Convert VisDrone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Fisheye + Merge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84248" y="2487168"/>
            <a:ext cx="1600200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Barrel distortion transform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84448" y="1783080"/>
            <a:ext cx="1554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5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39896" y="1371600"/>
            <a:ext cx="1600200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06824" y="144475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1453896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39896" y="1965960"/>
            <a:ext cx="1600200" cy="512064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YOLO11l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39896" y="2487168"/>
            <a:ext cx="1600200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2-stage training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0096" y="1783080"/>
            <a:ext cx="1554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55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95544" y="1371600"/>
            <a:ext cx="1600200" cy="1417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62472" y="144475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2472" y="1453896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7E22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95544" y="1965960"/>
            <a:ext cx="1600200" cy="512064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 Per-class 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95544" y="2487168"/>
            <a:ext cx="1600200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mAP, F1, precision/recall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95744" y="1783080"/>
            <a:ext cx="1554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55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51192" y="1371600"/>
            <a:ext cx="1600200" cy="1417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18120" y="144475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1453896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51192" y="1965960"/>
            <a:ext cx="1600200" cy="512064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 Export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51192" y="2487168"/>
            <a:ext cx="1600200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Save best.pt + fuse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2907792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Fisheye Barrel Distortion Transform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3218688"/>
            <a:ext cx="8595360" cy="1051560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2918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Compute center (cx, cy) and R = min(w,h)/2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35844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Normalize pixel coords to polar (r, θ)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387705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Apply: r_src = tan(r_dst × s × π/2) / tan(s × π/2)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63440" y="32918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Remap image via cv2.remap() with Lanczos4 interpolation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63440" y="35844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FISHEYE_STRENGTH = 0.5 (range: 0.4–0.6)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315968"/>
            <a:ext cx="8595360" cy="411480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334256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Merged Dataset:  Train: 11,296 images  |  Val: 1,768  |  Test: 853  |  Train Annotations: 406,355 bboxes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6: Model Training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2-Stage Training Configuration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73152" cy="2578608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Stage 1 — Initial Training (50 epochs)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11480" y="1682496"/>
          <a:ext cx="3931920" cy="2048256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GPU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1× Tesla P100-PCIE-16GB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Batch Size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Epochs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Optimizer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AdamW  |  lr0: 0.0005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 epochs (early stop)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Best Result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mAP 0.5 = 0.427 @ epoch 31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0" y="1353312"/>
            <a:ext cx="73152" cy="2578608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1371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Stage 2 — Resume Training (80 more epochs)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/>
        </p:nvGraphicFramePr>
        <p:xfrm>
          <a:off x="4709160" y="1682496"/>
          <a:ext cx="4069080" cy="2048256"/>
        </p:xfrm>
        <a:graphic>
          <a:graphicData uri="http://schemas.openxmlformats.org/drawingml/2006/table">
            <a:tbl>
              <a:tblPr/>
              <a:tblGrid>
                <a:gridCol w="1828800"/>
                <a:gridCol w="224028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GPU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2× Tesla T4 (32 eff. batch)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Batch Size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16/card → 32 effective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Epochs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 (130 total)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Optimizer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AdamW  |  lr0: 0.001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 epochs (early stop)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Best Result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mAP 0.5 = 0.617 @ epoch 79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7"/>
          <p:cNvSpPr/>
          <p:nvPr/>
        </p:nvSpPr>
        <p:spPr>
          <a:xfrm>
            <a:off x="274320" y="400507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Loss Function Weights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4297680"/>
            <a:ext cx="274320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74320" y="432511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Box Loss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45445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Weight: 7.5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182112" y="4297680"/>
            <a:ext cx="274320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182112" y="432511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Classification Loss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182112" y="45445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Weight: 0.5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9904" y="4297680"/>
            <a:ext cx="274320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089904" y="432511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DFL Loss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089904" y="45445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Weight: 1.5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6: Model Training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Progress — Stage 2 (v5, 80 Epochs)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Validation mAP Progress (Stage 2)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74320" y="1682496"/>
          <a:ext cx="5029200" cy="2048256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1097280"/>
                <a:gridCol w="118872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Epoch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Box Loss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Cls Loss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mAP 0.5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mAP 0.5:0.95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1/80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1.409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0.921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0.418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0.219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20/80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1.324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0.842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0.476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0.259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40/80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1.240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0.758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0.541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0.310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60/80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1.182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0.692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0.594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0.350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70/80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1.152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0.659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0.609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0.362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79/80 ⭐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1.054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0.581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0.368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1371600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Final Model Summary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0" y="1682496"/>
            <a:ext cx="3337560" cy="658368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682496"/>
            <a:ext cx="73152" cy="658368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7373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mAP 0.5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23560" y="20025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869"/>
                </a:solidFill>
              </a:rPr>
              <a:t>0.617</a:t>
            </a:r>
            <a:endParaRPr lang="en-US" sz="1600" dirty="0"/>
          </a:p>
        </p:txBody>
      </p:sp>
      <p:sp>
        <p:nvSpPr>
          <p:cNvPr id="6" name="Shape 9"/>
          <p:cNvSpPr/>
          <p:nvPr/>
        </p:nvSpPr>
        <p:spPr>
          <a:xfrm>
            <a:off x="5486400" y="2432304"/>
            <a:ext cx="3337560" cy="658368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0" y="2432304"/>
            <a:ext cx="73152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248716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mAP 0.5:0.95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23560" y="275234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D9"/>
                </a:solidFill>
              </a:rPr>
              <a:t>0.368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0" y="3182112"/>
            <a:ext cx="3337560" cy="658368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0" y="3182112"/>
            <a:ext cx="73152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323697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Total Epochs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23560" y="35021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</a:rPr>
              <a:t>130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0" y="3931920"/>
            <a:ext cx="3337560" cy="658368"/>
          </a:xfrm>
          <a:prstGeom prst="rect">
            <a:avLst/>
          </a:prstGeom>
          <a:solidFill>
            <a:srgbClr val="F4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0" y="3931920"/>
            <a:ext cx="73152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23560" y="398678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Improvement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23560" y="4251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</a:rPr>
              <a:t>+44.3%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49884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Resume training improved mAP 0.5 from 0.427 → 0.617  (+44.3%)  |  Total training time: ~9.64h (Stage 1) + ~5.21h (Stage 2)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7: Experimental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 Results — Per-class Performance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1353312"/>
            <a:ext cx="1627632" cy="749808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1371600"/>
            <a:ext cx="1627632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mAP 0.5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" y="1627632"/>
            <a:ext cx="16276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0.616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5960" y="1353312"/>
            <a:ext cx="1627632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371600"/>
            <a:ext cx="1627632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mAP 0.5:0.95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65960" y="1627632"/>
            <a:ext cx="16276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0.368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30752" y="1353312"/>
            <a:ext cx="1627632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30752" y="1371600"/>
            <a:ext cx="1627632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Precision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30752" y="1627632"/>
            <a:ext cx="16276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0.654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95544" y="1353312"/>
            <a:ext cx="1627632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95544" y="1371600"/>
            <a:ext cx="1627632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Recall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95544" y="1627632"/>
            <a:ext cx="16276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0.582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60336" y="1353312"/>
            <a:ext cx="1627632" cy="7498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0336" y="1371600"/>
            <a:ext cx="1627632" cy="27432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Inference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60336" y="1627632"/>
            <a:ext cx="16276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~181 FPS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" y="2176272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1869"/>
                </a:solidFill>
              </a:rPr>
              <a:t>Per-class Results  (Validation: 862 images, 27,193 instances)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274320" y="2468880"/>
          <a:ext cx="8595360" cy="1755648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371600"/>
                <a:gridCol w="1188720"/>
                <a:gridCol w="1280160"/>
                <a:gridCol w="210312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Instances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 0.5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 0.5:0.95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3,894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0.718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0.719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0.776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0.534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2,469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0.623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0.569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0.565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0.267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Truck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286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0.519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0.486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0.515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0.304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Pedestrian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4,232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0.603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0.276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0.339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0.129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Motorbike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16,312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0.805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0.858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0.887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0.607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274320" y="4315968"/>
            <a:ext cx="41605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334256"/>
            <a:ext cx="3977640" cy="384048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Motorbike AP 0.5 = 0.887  |  Car AP 0.5 = 0.776  |  ~181 FPS real-time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17720" y="4315968"/>
            <a:ext cx="4206240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9160" y="4334256"/>
            <a:ext cx="4023360" cy="384048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Pedestrian Recall = 0.276 (low)  |  Class imbalance: Motorbike ~60% vs Pedestrian ~15%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8: Comparison with Winners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 with AI City Challenge 2024 Top Teams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74320" y="1371600"/>
          <a:ext cx="8595360" cy="2340864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417320"/>
                <a:gridCol w="1417320"/>
                <a:gridCol w="237744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Criterion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VNPT AI (1st)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Nota (2nd)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SKKU (3rd)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Ours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6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F1-score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0.6406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0.6196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0.6194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~0.616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 (Ensemble)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Multi-model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Multi-model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(YOLO11l)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Fusion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WBF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WBF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WBF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Pseudo-labels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SAHI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Extra Data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FE8K+VisDrone+Syn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FE8K+External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FE8K+External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FE8K+VisDrone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Inference Speed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Slow (multi-model)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~181 FPS ✓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F4F0FF"/>
          </a:solidFill>
          <a:ln w="6350">
            <a:solidFill>
              <a:srgbClr val="2E186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4160520"/>
            <a:ext cx="73152" cy="594360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187952"/>
            <a:ext cx="8366760" cy="50292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single-model approach achieves F1 ≈ 0.616 — only ~4% behind the winner — while delivering 181 FPS real-time inference vs 5-15 FPS for ensemble methods. This makes it practical for edge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A415"/>
          </a:solidFill>
          <a:ln w="12700">
            <a:solidFill>
              <a:srgbClr val="C8A4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9: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18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Directions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Key Achievements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00784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09928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70992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End-to-end fisheye detection pipeline built successfully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48256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04825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FishEye8K + VisDrone merged: ~5,300 → ~11,300 training images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86584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38658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YOLO11l: 25.3M params, advanced C3k2, C2PSA, SPPF modules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15768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24912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27249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2-stage training: 130 epochs total (P100 + 2×T4)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54096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63240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30632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mAP 0.5 = 0.616, mAP 0.5:0.95 = 0.368  on validation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392424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01568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340156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mAP 0.5 improved +44.3% via resume training (0.427 → 0.616)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73075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739896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37398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Competitive: F1 ≈ 0.616 vs winner 0.6406 (~4% gap)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069080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78224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407822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Real-time inference: ~181 FPS on single GPU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7720" y="137160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1869"/>
                </a:solidFill>
              </a:rPr>
              <a:t>Future Directions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1700784"/>
            <a:ext cx="4160520" cy="384048"/>
          </a:xfrm>
          <a:prstGeom prst="rect">
            <a:avLst/>
          </a:prstGeom>
          <a:solidFill>
            <a:srgbClr val="F4F0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17373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🔬 Model Ensemble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17373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Combine YOLO11 + Co-DETR via WBF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157984"/>
            <a:ext cx="4160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1945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📊 SAHI Integration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21945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Slicing for small object detection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2615184"/>
            <a:ext cx="4160520" cy="384048"/>
          </a:xfrm>
          <a:prstGeom prst="rect">
            <a:avLst/>
          </a:prstGeom>
          <a:solidFill>
            <a:srgbClr val="F4F0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6517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🔄 Pseudo-labeling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26517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Expand training set with auto-labels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3072384"/>
            <a:ext cx="4160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1089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🏗 Domain Adaptation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46520" y="31089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Reduce FishEye8K ↔ VisDrone gap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3529584"/>
            <a:ext cx="4160520" cy="384048"/>
          </a:xfrm>
          <a:prstGeom prst="rect">
            <a:avLst/>
          </a:prstGeom>
          <a:solidFill>
            <a:srgbClr val="F4F0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35661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⚡ TTA &amp; Multi-scale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35661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Test-time augmentation strategies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3986784"/>
            <a:ext cx="4160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40233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1869"/>
                </a:solidFill>
              </a:rPr>
              <a:t>🎯 Pedestrian Focus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46520" y="402336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Address low Recall (0.276) issue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2468880"/>
          </a:xfrm>
          <a:prstGeom prst="rect">
            <a:avLst/>
          </a:prstGeom>
          <a:solidFill>
            <a:srgbClr val="2E1869"/>
          </a:solidFill>
          <a:ln w="12700">
            <a:solidFill>
              <a:srgbClr val="2E18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6002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0" y="2578608"/>
            <a:ext cx="4572000" cy="0"/>
          </a:xfrm>
          <a:prstGeom prst="line">
            <a:avLst/>
          </a:prstGeom>
          <a:noFill/>
          <a:ln w="25400">
            <a:solidFill>
              <a:srgbClr val="C8A4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7004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Dr. Nguyen Duc Du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Detection on FishEye8K Using YOLO11 — 2024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2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3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4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5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6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7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8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9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10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11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12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13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14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ags/tag15.xml><?xml version="1.0" encoding="utf-8"?>
<p:tagLst xmlns:p="http://schemas.openxmlformats.org/presentationml/2006/main">
  <p:tag name="KSO_WM_DIAGRAM_VIRTUALLY_FRAME" val="{&quot;height&quot;:191.52,&quot;left&quot;:363.6,&quot;top&quot;:132.48,&quot;width&quot;:32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7587</Words>
  <Application>WPS Presentation</Application>
  <PresentationFormat>On-screen Show (16:9)</PresentationFormat>
  <Paragraphs>928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on FishEye8K Using YOLO11</dc:title>
  <dc:creator>Research Team</dc:creator>
  <dc:subject>PptxGenJS Presentation</dc:subject>
  <cp:lastModifiedBy>Nam Nguyễn</cp:lastModifiedBy>
  <cp:revision>2</cp:revision>
  <dcterms:created xsi:type="dcterms:W3CDTF">2026-05-06T23:53:00Z</dcterms:created>
  <dcterms:modified xsi:type="dcterms:W3CDTF">2026-05-07T00:14:34Z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979A7A094E9548E2A82727BF8D731CD1_12</vt:lpwstr>
  </property>
  <property fmtid="{D5CDD505-2E9C-101B-9397-08002B2CF9AE}" pid="3" name="KSOProductBuildVer">
    <vt:lpwstr>2057-12.2.0.23202</vt:lpwstr>
  </property>
</Properties>
</file>